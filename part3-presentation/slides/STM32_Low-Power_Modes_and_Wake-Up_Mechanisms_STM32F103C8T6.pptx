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</p:sldIdLst>
  <p:sldSz cx="12188825" cy="6858000" type="screen4x3"/>
  <p:notesSz cx="6858000" cy="9144000"/>
  <p:embeddedFontLst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4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4552" cy="3291840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789920" cy="44437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Aft>
                <a:spcPts val="100"/>
              </a:spcAft>
            </a:pPr>
            <a:r>
              <a:rPr sz="4600">
                <a:solidFill>
                  <a:schemeClr val="bg1"/>
                </a:solidFill>
                <a:latin typeface="Calibri"/>
                <a:sym typeface="+mn-ea"/>
              </a:rPr>
              <a:t>  </a:t>
            </a:r>
            <a:r>
              <a:rPr sz="5400">
                <a:solidFill>
                  <a:schemeClr val="bg1"/>
                </a:solidFill>
                <a:latin typeface="Calibri"/>
                <a:sym typeface="+mn-ea"/>
              </a:rPr>
              <a:t>Embedded Systems</a:t>
            </a:r>
            <a:endParaRPr sz="4600" b="0" i="0">
              <a:solidFill>
                <a:schemeClr val="bg1"/>
              </a:solidFill>
              <a:latin typeface="Calibri"/>
            </a:endParaRPr>
          </a:p>
          <a:p>
            <a:pPr algn="ctr">
              <a:spcAft>
                <a:spcPts val="100"/>
              </a:spcAft>
            </a:pPr>
            <a:r>
              <a:rPr lang="en-US" sz="4600">
                <a:solidFill>
                  <a:schemeClr val="bg1"/>
                </a:solidFill>
                <a:latin typeface="Calibri"/>
                <a:sym typeface="+mn-ea"/>
              </a:rPr>
              <a:t>   </a:t>
            </a:r>
            <a:r>
              <a:rPr sz="4600">
                <a:solidFill>
                  <a:schemeClr val="bg1"/>
                </a:solidFill>
                <a:latin typeface="Calibri"/>
                <a:sym typeface="+mn-ea"/>
              </a:rPr>
              <a:t>INSA</a:t>
            </a:r>
            <a:r>
              <a:rPr lang="en-US" sz="4600">
                <a:solidFill>
                  <a:schemeClr val="bg1"/>
                </a:solidFill>
                <a:latin typeface="Calibri"/>
                <a:sym typeface="+mn-ea"/>
              </a:rPr>
              <a:t> Summer Camp</a:t>
            </a:r>
            <a:endParaRPr sz="4600" b="0" i="0">
              <a:solidFill>
                <a:schemeClr val="bg1"/>
              </a:solidFill>
              <a:latin typeface="Calibri"/>
            </a:endParaRPr>
          </a:p>
          <a:p>
            <a:pPr algn="ctr">
              <a:spcAft>
                <a:spcPts val="100"/>
              </a:spcAft>
            </a:pPr>
            <a:r>
              <a:rPr sz="4600">
                <a:solidFill>
                  <a:schemeClr val="bg1"/>
                </a:solidFill>
                <a:latin typeface="Calibri"/>
                <a:sym typeface="+mn-ea"/>
              </a:rPr>
              <a:t>       </a:t>
            </a:r>
            <a:r>
              <a:rPr sz="3200">
                <a:solidFill>
                  <a:schemeClr val="bg1"/>
                </a:solidFill>
                <a:latin typeface="Calibri"/>
                <a:sym typeface="+mn-ea"/>
              </a:rPr>
              <a:t> </a:t>
            </a:r>
            <a:r>
              <a:rPr sz="3200" b="1" i="0">
                <a:solidFill>
                  <a:srgbClr val="FFFFFF"/>
                </a:solidFill>
                <a:latin typeface="Calibri"/>
              </a:rPr>
              <a:t>STM32 Low-Power Modes</a:t>
            </a:r>
            <a:r>
              <a:rPr lang="en-US" sz="3200" b="1" i="0">
                <a:solidFill>
                  <a:srgbClr val="FFFFFF"/>
                </a:solidFill>
                <a:latin typeface="Calibri"/>
              </a:rPr>
              <a:t> </a:t>
            </a:r>
            <a:r>
              <a:rPr sz="3200" b="1" i="0">
                <a:solidFill>
                  <a:srgbClr val="FFFFFF"/>
                </a:solidFill>
                <a:latin typeface="Calibri"/>
              </a:rPr>
              <a:t>and Wake-Up Mechanisms</a:t>
            </a:r>
            <a:endParaRPr sz="32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3611880"/>
            <a:ext cx="11274425" cy="457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8470" y="3608705"/>
            <a:ext cx="11273155" cy="2499995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6400800" cy="534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lang="en-US" sz="1400" b="0" i="0">
                <a:solidFill>
                  <a:srgbClr val="1A2B4A"/>
                </a:solidFill>
                <a:latin typeface="Calibri"/>
              </a:rPr>
              <a:t>By:</a:t>
            </a:r>
            <a:r>
              <a:rPr sz="1400" b="0" i="0">
                <a:solidFill>
                  <a:srgbClr val="1A2B4A"/>
                </a:solidFill>
                <a:latin typeface="Calibri"/>
              </a:rPr>
              <a:t> Nebiyat Biadglign</a:t>
            </a:r>
            <a:endParaRPr sz="14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1A2B4A"/>
                </a:solidFill>
                <a:latin typeface="Calibri"/>
              </a:rPr>
              <a:t>     </a:t>
            </a:r>
            <a:endParaRPr sz="14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0" y="5743575"/>
            <a:ext cx="36576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>
                <a:solidFill>
                  <a:srgbClr val="1A2B4A"/>
                </a:solidFill>
                <a:latin typeface="Calibri"/>
                <a:sym typeface="+mn-ea"/>
              </a:rPr>
              <a:t> </a:t>
            </a:r>
            <a:r>
              <a:rPr lang="en-US" sz="1300">
                <a:solidFill>
                  <a:srgbClr val="1A2B4A"/>
                </a:solidFill>
                <a:latin typeface="Calibri"/>
                <a:sym typeface="+mn-ea"/>
              </a:rPr>
              <a:t>                       </a:t>
            </a:r>
            <a:r>
              <a:rPr sz="1300">
                <a:solidFill>
                  <a:srgbClr val="1A2B4A"/>
                </a:solidFill>
                <a:latin typeface="Calibri"/>
                <a:sym typeface="+mn-ea"/>
              </a:rPr>
              <a:t>September 2026</a:t>
            </a:r>
            <a:endParaRPr sz="1300" b="0" i="1">
              <a:solidFill>
                <a:srgbClr val="55667A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662025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A8C8"/>
                </a:solidFill>
                <a:latin typeface="Calibri"/>
              </a:rPr>
              <a:t>STM32F103C8T6  |  Low-Power Modes and Wake-Up Mechanisms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183112" y="6620256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A8C8"/>
                </a:solidFill>
                <a:latin typeface="Calibri"/>
              </a:rPr>
              <a:t>1 / 19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STM32F103C8T6 — Device Overview</a:t>
            </a:r>
            <a:endParaRPr sz="26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7472" y="65836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8F0"/>
                </a:solidFill>
                <a:latin typeface="Calibri"/>
              </a:rPr>
              <a:t>ARM Cortex-M3 Medium-Density Performance Line</a:t>
            </a:r>
            <a:endParaRPr sz="1100" b="0" i="1">
              <a:solidFill>
                <a:srgbClr val="B0C8F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62025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A8C8"/>
                </a:solidFill>
                <a:latin typeface="Calibri"/>
              </a:rPr>
              <a:t>STM32F103C8T6  |  Low-Power Modes and Wake-Up Mechanisms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6620256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A8C8"/>
                </a:solidFill>
                <a:latin typeface="Calibri"/>
              </a:rPr>
              <a:t>2 / 19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" y="6382512"/>
            <a:ext cx="1170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667A"/>
                </a:solidFill>
                <a:latin typeface="Calibri"/>
              </a:rPr>
              <a:t>Source: DS5319 Rev. 20, July 2025</a:t>
            </a:r>
            <a:endParaRPr sz="800" b="0" i="1">
              <a:solidFill>
                <a:srgbClr val="55667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5394960" cy="5486400"/>
          </a:xfrm>
          <a:prstGeom prst="rect">
            <a:avLst/>
          </a:prstGeom>
          <a:solidFill>
            <a:srgbClr val="E8F0FB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704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Core Specifications</a:t>
            </a:r>
            <a:endParaRPr sz="130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1481328"/>
            <a:ext cx="5166360" cy="19050"/>
          </a:xfrm>
          <a:prstGeom prst="rect">
            <a:avLst/>
          </a:prstGeom>
          <a:solidFill>
            <a:srgbClr val="C5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554480"/>
            <a:ext cx="5230368" cy="347472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1592580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5C0"/>
                </a:solidFill>
                <a:latin typeface="Calibri"/>
              </a:rPr>
              <a:t>CPU Core</a:t>
            </a:r>
            <a:endParaRPr sz="105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94560" y="1592580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4A"/>
                </a:solidFill>
                <a:latin typeface="Calibri"/>
              </a:rPr>
              <a:t>ARM Cortex-M3  (ARMv7-M architecture)</a:t>
            </a:r>
            <a:endParaRPr sz="10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11480" y="1929384"/>
            <a:ext cx="5230368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967484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5C0"/>
                </a:solidFill>
                <a:latin typeface="Calibri"/>
              </a:rPr>
              <a:t>Max Frequency</a:t>
            </a:r>
            <a:endParaRPr sz="105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94560" y="1967484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4A"/>
                </a:solidFill>
                <a:latin typeface="Calibri"/>
              </a:rPr>
              <a:t>72 MHz</a:t>
            </a:r>
            <a:endParaRPr sz="10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11480" y="2304288"/>
            <a:ext cx="5230368" cy="347472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342388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5C0"/>
                </a:solidFill>
                <a:latin typeface="Calibri"/>
              </a:rPr>
              <a:t>Flash Memory</a:t>
            </a:r>
            <a:endParaRPr sz="105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94560" y="2342388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4A"/>
                </a:solidFill>
                <a:latin typeface="Calibri"/>
              </a:rPr>
              <a:t>64 KB  (C8 variant — C8 ≠ CB which has 128 KB)</a:t>
            </a:r>
            <a:endParaRPr sz="10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11480" y="2679192"/>
            <a:ext cx="5230368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271729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5C0"/>
                </a:solidFill>
                <a:latin typeface="Calibri"/>
              </a:rPr>
              <a:t>SRAM</a:t>
            </a:r>
            <a:endParaRPr sz="105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94560" y="2717292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4A"/>
                </a:solidFill>
                <a:latin typeface="Calibri"/>
              </a:rPr>
              <a:t>20 KB</a:t>
            </a:r>
            <a:endParaRPr sz="10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11480" y="3054096"/>
            <a:ext cx="5230368" cy="347472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3092196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5C0"/>
                </a:solidFill>
                <a:latin typeface="Calibri"/>
              </a:rPr>
              <a:t>Supply Voltage</a:t>
            </a:r>
            <a:endParaRPr sz="105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94560" y="3092196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4A"/>
                </a:solidFill>
                <a:latin typeface="Calibri"/>
              </a:rPr>
              <a:t>2.0 V – 3.6 V (VDD)  |  2.0 – 3.6 V (VDDA)</a:t>
            </a:r>
            <a:endParaRPr sz="10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11480" y="3429000"/>
            <a:ext cx="5230368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3467100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5C0"/>
                </a:solidFill>
                <a:latin typeface="Calibri"/>
              </a:rPr>
              <a:t>Package</a:t>
            </a:r>
            <a:endParaRPr sz="105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194560" y="3467100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4A"/>
                </a:solidFill>
                <a:latin typeface="Calibri"/>
              </a:rPr>
              <a:t>LQFP48  |  UFQFPN48</a:t>
            </a:r>
            <a:endParaRPr sz="10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11480" y="3803904"/>
            <a:ext cx="5230368" cy="347472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" y="3842004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5C0"/>
                </a:solidFill>
                <a:latin typeface="Calibri"/>
              </a:rPr>
              <a:t>Temp. Range</a:t>
            </a:r>
            <a:endParaRPr sz="105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194560" y="3842004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4A"/>
                </a:solidFill>
                <a:latin typeface="Calibri"/>
              </a:rPr>
              <a:t>–40°C to +85°C (TA)</a:t>
            </a:r>
            <a:endParaRPr sz="10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11480" y="4178808"/>
            <a:ext cx="5230368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4216908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5C0"/>
                </a:solidFill>
                <a:latin typeface="Calibri"/>
              </a:rPr>
              <a:t>GPIO</a:t>
            </a:r>
            <a:endParaRPr sz="105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194560" y="4216908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4A"/>
                </a:solidFill>
                <a:latin typeface="Calibri"/>
              </a:rPr>
              <a:t>37 I/O pins (LQFP48), 4-bit mode/CNF per pin</a:t>
            </a:r>
            <a:endParaRPr sz="10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11480" y="4553712"/>
            <a:ext cx="5230368" cy="347472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459181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5C0"/>
                </a:solidFill>
                <a:latin typeface="Calibri"/>
              </a:rPr>
              <a:t>ADC</a:t>
            </a:r>
            <a:endParaRPr sz="105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194560" y="4591812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4A"/>
                </a:solidFill>
                <a:latin typeface="Calibri"/>
              </a:rPr>
              <a:t>2× 12-bit SAR ADC, 10 external channels</a:t>
            </a:r>
            <a:endParaRPr sz="10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11480" y="4928616"/>
            <a:ext cx="5230368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" y="4966716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5C0"/>
                </a:solidFill>
                <a:latin typeface="Calibri"/>
              </a:rPr>
              <a:t>Timers</a:t>
            </a:r>
            <a:endParaRPr sz="105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194560" y="4966716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4A"/>
                </a:solidFill>
                <a:latin typeface="Calibri"/>
              </a:rPr>
              <a:t>TIM1 (advanced), TIM2/3/4 (general-purpose)</a:t>
            </a:r>
            <a:endParaRPr sz="10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11480" y="5303520"/>
            <a:ext cx="5230368" cy="347472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" y="5341620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5C0"/>
                </a:solidFill>
                <a:latin typeface="Calibri"/>
              </a:rPr>
              <a:t>Comms</a:t>
            </a:r>
            <a:endParaRPr sz="105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194560" y="5341620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4A"/>
                </a:solidFill>
                <a:latin typeface="Calibri"/>
              </a:rPr>
              <a:t>3× USART, 2× SPI, 2× I²C</a:t>
            </a:r>
            <a:endParaRPr sz="10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11480" y="5678424"/>
            <a:ext cx="5230368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" y="5716524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5C0"/>
                </a:solidFill>
                <a:latin typeface="Calibri"/>
              </a:rPr>
              <a:t>USB / CAN</a:t>
            </a:r>
            <a:endParaRPr sz="105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194560" y="5716524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4A"/>
                </a:solidFill>
                <a:latin typeface="Calibri"/>
              </a:rPr>
              <a:t>USB 2.0 Full-Speed  |  bxCAN 2.0B</a:t>
            </a:r>
            <a:endParaRPr sz="10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11480" y="6053328"/>
            <a:ext cx="5230368" cy="347472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488" y="6091428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5C0"/>
                </a:solidFill>
                <a:latin typeface="Calibri"/>
              </a:rPr>
              <a:t>DMA</a:t>
            </a:r>
            <a:endParaRPr sz="105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194560" y="6091428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4A"/>
                </a:solidFill>
                <a:latin typeface="Calibri"/>
              </a:rPr>
              <a:t>7-channel DMA controller (AHB master)</a:t>
            </a:r>
            <a:endParaRPr sz="10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5989320" y="1097280"/>
            <a:ext cx="5897880" cy="5486400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72200" y="117043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Key Device Distinctions</a:t>
            </a:r>
            <a:endParaRPr sz="130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126480" y="1481328"/>
            <a:ext cx="5669280" cy="19050"/>
          </a:xfrm>
          <a:prstGeom prst="rect">
            <a:avLst/>
          </a:prstGeom>
          <a:solidFill>
            <a:srgbClr val="C5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72200" y="1554480"/>
            <a:ext cx="5577840" cy="3997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0D2A4F"/>
                </a:solidFill>
                <a:latin typeface="Calibri"/>
              </a:rPr>
              <a:t>Family context</a:t>
            </a:r>
            <a:endParaRPr sz="1200" b="1" i="0">
              <a:solidFill>
                <a:srgbClr val="0D2A4F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STM32F103 is the medium-density performance line. The family covers 64 KB (C8) and 128 KB (CB) Flash variants. This presentation covers the C8 (64 KB).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0D2A4F"/>
                </a:solidFill>
                <a:latin typeface="Calibri"/>
              </a:rPr>
              <a:t>Cortex-M3 core</a:t>
            </a:r>
            <a:endParaRPr sz="1200" b="1" i="0">
              <a:solidFill>
                <a:srgbClr val="0D2A4F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32-bit RISC, Thumb-2 ISA, single-cycle multiply, hardware divide. No floating-point unit. NVIC with 68 maskable interrupt lines.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0D2A4F"/>
                </a:solidFill>
                <a:latin typeface="Calibri"/>
              </a:rPr>
              <a:t>Official low-power modes </a:t>
            </a:r>
            <a:endParaRPr sz="1200" b="1" i="0">
              <a:solidFill>
                <a:srgbClr val="0D2A4F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1565C0"/>
                </a:solidFill>
                <a:latin typeface="Calibri"/>
              </a:rPr>
              <a:t>Sleep  —  Stop  —  Standby</a:t>
            </a:r>
            <a:endParaRPr sz="1200" b="0" i="0">
              <a:solidFill>
                <a:srgbClr val="1565C0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C62828"/>
                </a:solidFill>
                <a:latin typeface="Calibri"/>
              </a:rPr>
              <a:t>Shutdown mode — NOT supported by STM32F103C8T6</a:t>
            </a:r>
            <a:endParaRPr sz="1200" b="1" i="0">
              <a:solidFill>
                <a:srgbClr val="C62828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C62828"/>
                </a:solidFill>
                <a:latin typeface="Calibri"/>
              </a:rPr>
              <a:t>Shutdown belongs to newer STM32L/STM32G families and must not be presented as an F103 feature.</a:t>
            </a:r>
            <a:endParaRPr sz="1100" b="0" i="0">
              <a:solidFill>
                <a:srgbClr val="C62828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0D2A4F"/>
                </a:solidFill>
                <a:latin typeface="Calibri"/>
              </a:rPr>
              <a:t>Bus architecture &amp; frequencies</a:t>
            </a:r>
            <a:endParaRPr sz="1200" b="1" i="0">
              <a:solidFill>
                <a:srgbClr val="0D2A4F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AHB bus (up to 72 MHz max): core, DMA, Flash, SRAM.
APB2 (up to 72 MHz max): GPIO, ADC, TIM1, USART1, SPI1.
APB1 (up to 36 MHz max): TIM2–4, USART2/3, SPI2, I²C, USB, CAN.</a:t>
            </a:r>
            <a:endParaRPr sz="1100" b="0" i="0">
              <a:solidFill>
                <a:srgbClr val="1A2B4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ARM Cortex-M3 Architecture</a:t>
            </a:r>
            <a:endParaRPr sz="26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7472" y="65836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8F0"/>
                </a:solidFill>
                <a:latin typeface="Calibri"/>
              </a:rPr>
              <a:t>ARMv7-M  |  NVIC  |  SysTick  |  SCB  |  WFI / WFE</a:t>
            </a:r>
            <a:endParaRPr sz="1100" b="0" i="1">
              <a:solidFill>
                <a:srgbClr val="B0C8F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62025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A8C8"/>
                </a:solidFill>
                <a:latin typeface="Calibri"/>
              </a:rPr>
              <a:t>STM32F103C8T6  |  Low-Power Modes and Wake-Up Mechanisms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6620256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A8C8"/>
                </a:solidFill>
                <a:latin typeface="Calibri"/>
              </a:rPr>
              <a:t>3 / 19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" y="6382512"/>
            <a:ext cx="1170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667A"/>
                </a:solidFill>
                <a:latin typeface="Calibri"/>
              </a:rPr>
              <a:t>Source: DS5319 Rev. 20; RM0008 Rev. 21; ARM DDI 0337</a:t>
            </a:r>
            <a:endParaRPr sz="800" b="0" i="1">
              <a:solidFill>
                <a:srgbClr val="55667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5486400" cy="5394960"/>
          </a:xfrm>
          <a:prstGeom prst="rect">
            <a:avLst/>
          </a:prstGeom>
          <a:solidFill>
            <a:srgbClr val="E8F0FB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7043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Core Features</a:t>
            </a:r>
            <a:endParaRPr sz="130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5257800" cy="19050"/>
          </a:xfrm>
          <a:prstGeom prst="rect">
            <a:avLst/>
          </a:prstGeom>
          <a:solidFill>
            <a:srgbClr val="C5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554480"/>
            <a:ext cx="5212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0D2A4F"/>
                </a:solidFill>
                <a:latin typeface="Calibri"/>
              </a:rPr>
              <a:t>•  ARM Cortex-M3  (ARMv7-M profile)</a:t>
            </a:r>
            <a:endParaRPr sz="1200" b="1">
              <a:solidFill>
                <a:srgbClr val="0D2A4F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B4A"/>
                </a:solidFill>
                <a:latin typeface="Calibri"/>
              </a:rPr>
              <a:t>•  Thumb-2 instruction set — 16/32-bit mixed encoding</a:t>
            </a:r>
            <a:endParaRPr sz="12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B4A"/>
                </a:solidFill>
                <a:latin typeface="Calibri"/>
              </a:rPr>
              <a:t>•  3-stage pipeline, single-cycle multiply, hardware divide</a:t>
            </a:r>
            <a:endParaRPr sz="12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B4A"/>
                </a:solidFill>
                <a:latin typeface="Calibri"/>
              </a:rPr>
              <a:t>•  No FPU  (floating-point unit not present in M3)</a:t>
            </a:r>
            <a:endParaRPr sz="12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B4A"/>
                </a:solidFill>
                <a:latin typeface="Calibri"/>
              </a:rPr>
              <a:t>•  </a:t>
            </a:r>
            <a:endParaRPr sz="12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D2A4F"/>
                </a:solidFill>
                <a:latin typeface="Calibri"/>
              </a:rPr>
              <a:t>•  NVIC — Nested Vectored Interrupt Controller</a:t>
            </a:r>
            <a:endParaRPr sz="1200" b="1">
              <a:solidFill>
                <a:srgbClr val="0D2A4F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B4A"/>
                </a:solidFill>
                <a:latin typeface="Calibri"/>
              </a:rPr>
              <a:t>•  68 maskable interrupt sources</a:t>
            </a:r>
            <a:endParaRPr sz="12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B4A"/>
                </a:solidFill>
                <a:latin typeface="Calibri"/>
              </a:rPr>
              <a:t>•  16 priority levels (4-bit priority field)</a:t>
            </a:r>
            <a:endParaRPr sz="12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B4A"/>
                </a:solidFill>
                <a:latin typeface="Calibri"/>
              </a:rPr>
              <a:t>•  Tail-chaining and late-arrival optimisation</a:t>
            </a:r>
            <a:endParaRPr sz="12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B4A"/>
                </a:solidFill>
                <a:latin typeface="Calibri"/>
              </a:rPr>
              <a:t>•  </a:t>
            </a:r>
            <a:endParaRPr sz="12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D2A4F"/>
                </a:solidFill>
                <a:latin typeface="Calibri"/>
              </a:rPr>
              <a:t>•  SysTick — 24-bit countdown timer</a:t>
            </a:r>
            <a:endParaRPr sz="1200" b="1">
              <a:solidFill>
                <a:srgbClr val="0D2A4F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B4A"/>
                </a:solidFill>
                <a:latin typeface="Calibri"/>
              </a:rPr>
              <a:t>•  Provides OS tick; can wake from Sleep mode</a:t>
            </a:r>
            <a:endParaRPr sz="12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B4A"/>
                </a:solidFill>
                <a:latin typeface="Calibri"/>
              </a:rPr>
              <a:t>•  </a:t>
            </a:r>
            <a:endParaRPr sz="12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D2A4F"/>
                </a:solidFill>
                <a:latin typeface="Calibri"/>
              </a:rPr>
              <a:t>•  System Control Block (SCB)</a:t>
            </a:r>
            <a:endParaRPr sz="1200" b="1">
              <a:solidFill>
                <a:srgbClr val="0D2A4F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B4A"/>
                </a:solidFill>
                <a:latin typeface="Calibri"/>
              </a:rPr>
              <a:t>•  SCB→SCR controls sleep-entry behaviour</a:t>
            </a:r>
            <a:endParaRPr sz="12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565C0"/>
                </a:solidFill>
                <a:latin typeface="Calibri"/>
              </a:rPr>
              <a:t>•  SLEEPDEEP bit selects Sleep vs Stop/Standby</a:t>
            </a:r>
            <a:endParaRPr sz="1200" b="0">
              <a:solidFill>
                <a:srgbClr val="1565C0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B4A"/>
                </a:solidFill>
                <a:latin typeface="Calibri"/>
              </a:rPr>
              <a:t>•  SLEEPONEXIT: re-enter sleep after ISR returns</a:t>
            </a:r>
            <a:endParaRPr sz="12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2B4A"/>
                </a:solidFill>
                <a:latin typeface="Calibri"/>
              </a:rPr>
              <a:t>•  SEVONPEND: pending IRQ generates wake event</a:t>
            </a:r>
            <a:endParaRPr sz="1200" b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80760" y="1097280"/>
            <a:ext cx="5553075" cy="2000885"/>
          </a:xfrm>
          <a:prstGeom prst="rect">
            <a:avLst/>
          </a:prstGeom>
          <a:solidFill>
            <a:srgbClr val="E8F0FB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1887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A4F"/>
                </a:solidFill>
                <a:latin typeface="Calibri"/>
              </a:rPr>
              <a:t>WFI  —  Wait For Interrupt</a:t>
            </a:r>
            <a:endParaRPr sz="120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17920" y="1481328"/>
            <a:ext cx="5577840" cy="19050"/>
          </a:xfrm>
          <a:prstGeom prst="rect">
            <a:avLst/>
          </a:prstGeom>
          <a:solidFill>
            <a:srgbClr val="C5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554480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CPU halts and waits for a pending enabled interrupt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Interrupt fires → CPU wakes, ISR executes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Most common mechanism for interrupt-driven sleep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Used in Sleep, Stop, and Standby modes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55667A"/>
                </a:solidFill>
                <a:latin typeface="Calibri"/>
              </a:rPr>
              <a:t>•  CMSIS:  __WFI()   or   __asm("WFI")</a:t>
            </a:r>
            <a:endParaRPr sz="1100" b="0">
              <a:solidFill>
                <a:srgbClr val="55667A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080760" y="3173730"/>
            <a:ext cx="5577205" cy="1993900"/>
          </a:xfrm>
          <a:prstGeom prst="rect">
            <a:avLst/>
          </a:prstGeom>
          <a:solidFill>
            <a:srgbClr val="E4F4F2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1565" y="3401695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A4F"/>
                </a:solidFill>
                <a:latin typeface="Calibri"/>
              </a:rPr>
              <a:t>WFE  —  Wait For Event</a:t>
            </a:r>
            <a:endParaRPr sz="120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147435" y="3703193"/>
            <a:ext cx="5577840" cy="19050"/>
          </a:xfrm>
          <a:prstGeom prst="rect">
            <a:avLst/>
          </a:prstGeom>
          <a:solidFill>
            <a:srgbClr val="C5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7435" y="3748405"/>
            <a:ext cx="5354955" cy="13195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CPU halts and waits for an event signal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Event does not require ISR entry — processor simply resumes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Event sources: SEV instruction, EXTI event, SEVONPEND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Used for event-driven synchronisation / low-power loops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55667A"/>
                </a:solidFill>
                <a:latin typeface="Calibri"/>
              </a:rPr>
              <a:t>•  CMSIS:  __WFE()   |   __SEV() before WFE if latch is empty</a:t>
            </a:r>
            <a:endParaRPr sz="1100" b="0">
              <a:solidFill>
                <a:srgbClr val="55667A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010275" y="5310505"/>
            <a:ext cx="5788152" cy="201168"/>
          </a:xfrm>
          <a:prstGeom prst="rect">
            <a:avLst/>
          </a:prstGeom>
          <a:solidFill>
            <a:srgbClr val="0D2A4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5225" y="5282438"/>
            <a:ext cx="55778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SCB→SCR Key Bits</a:t>
            </a:r>
            <a:endParaRPr sz="95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010275" y="5511673"/>
            <a:ext cx="5788152" cy="329184"/>
          </a:xfrm>
          <a:prstGeom prst="rect">
            <a:avLst/>
          </a:prstGeom>
          <a:solidFill>
            <a:srgbClr val="EFF4FD"/>
          </a:solidFill>
          <a:ln w="381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3427" y="554977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565C0"/>
                </a:solidFill>
                <a:latin typeface="Calibri"/>
              </a:rPr>
              <a:t>SLEEPDEEP [2]</a:t>
            </a:r>
            <a:endParaRPr sz="95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957946" y="5549773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0 = Sleep on WFI/WFE  |  1 = Stop or Standby on WFI/WFE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010275" y="5859145"/>
            <a:ext cx="5788152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3427" y="589724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565C0"/>
                </a:solidFill>
                <a:latin typeface="Calibri"/>
              </a:rPr>
              <a:t>SLEEPONEXIT [1]</a:t>
            </a:r>
            <a:endParaRPr sz="95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957946" y="5897245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Re-enter sleep mode automatically after ISR completes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010275" y="6206617"/>
            <a:ext cx="5788152" cy="329184"/>
          </a:xfrm>
          <a:prstGeom prst="rect">
            <a:avLst/>
          </a:prstGeom>
          <a:solidFill>
            <a:srgbClr val="EFF4FD"/>
          </a:solidFill>
          <a:ln w="381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3427" y="624471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565C0"/>
                </a:solidFill>
                <a:latin typeface="Calibri"/>
              </a:rPr>
              <a:t>SEVONPEND [4]</a:t>
            </a:r>
            <a:endParaRPr sz="95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957946" y="6244717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Pending interrupt (even masked) acts as wake event for WFE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Memory, Bus and Peripheral Architecture</a:t>
            </a:r>
            <a:endParaRPr sz="26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7472" y="65836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8F0"/>
                </a:solidFill>
                <a:latin typeface="Calibri"/>
              </a:rPr>
              <a:t>AHB / APB1 / APB2  |  DMA  |  Peripheral Overview</a:t>
            </a:r>
            <a:endParaRPr sz="1100" b="0" i="1">
              <a:solidFill>
                <a:srgbClr val="B0C8F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62025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A8C8"/>
                </a:solidFill>
                <a:latin typeface="Calibri"/>
              </a:rPr>
              <a:t>STM32F103C8T6  |  Low-Power Modes and Wake-Up Mechanisms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6620256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A8C8"/>
                </a:solidFill>
                <a:latin typeface="Calibri"/>
              </a:rPr>
              <a:t>4 / 19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" y="6382512"/>
            <a:ext cx="1170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667A"/>
                </a:solidFill>
                <a:latin typeface="Calibri"/>
              </a:rPr>
              <a:t>Source: DS5319 Rev. 20, Fig. 1, p. 11</a:t>
            </a:r>
            <a:endParaRPr sz="800" b="0" i="1">
              <a:solidFill>
                <a:srgbClr val="55667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3749039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97280"/>
            <a:ext cx="3749039" cy="347472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14300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Core &amp; Memory  (AHB — up to 72 MHz)</a:t>
            </a:r>
            <a:endParaRPr sz="115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0040" y="1508760"/>
            <a:ext cx="3648456" cy="457200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53416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A4F"/>
                </a:solidFill>
                <a:latin typeface="Calibri"/>
              </a:rPr>
              <a:t>Flash</a:t>
            </a:r>
            <a:endParaRPr sz="105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09344" y="1534160"/>
            <a:ext cx="2331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64 KB, 128-bit bus, zero-wait (at ≤24 MHz)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0040" y="1993392"/>
            <a:ext cx="364845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018792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A4F"/>
                </a:solidFill>
                <a:latin typeface="Calibri"/>
              </a:rPr>
              <a:t>SRAM</a:t>
            </a:r>
            <a:endParaRPr sz="105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609344" y="2018792"/>
            <a:ext cx="2331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20 KB, single-cycle access, retained in Stop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20040" y="2478024"/>
            <a:ext cx="3648456" cy="457200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503424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A4F"/>
                </a:solidFill>
                <a:latin typeface="Calibri"/>
              </a:rPr>
              <a:t>DMA</a:t>
            </a:r>
            <a:endParaRPr sz="105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09344" y="2503424"/>
            <a:ext cx="2331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7-ch AHB master, mem-to-mem &amp; periph modes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0040" y="2962656"/>
            <a:ext cx="364845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2988056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A4F"/>
                </a:solidFill>
                <a:latin typeface="Calibri"/>
              </a:rPr>
              <a:t>NVIC</a:t>
            </a:r>
            <a:endParaRPr sz="105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09344" y="2988056"/>
            <a:ext cx="2331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68 IRQs, 16 priority levels, vector table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20040" y="3447288"/>
            <a:ext cx="3648456" cy="457200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3472688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A4F"/>
                </a:solidFill>
                <a:latin typeface="Calibri"/>
              </a:rPr>
              <a:t>SysTick</a:t>
            </a:r>
            <a:endParaRPr sz="105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09344" y="3472688"/>
            <a:ext cx="2331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24-bit, 1 ms OS tick, wake from Sleep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20040" y="3931920"/>
            <a:ext cx="364845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95732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A4F"/>
                </a:solidFill>
                <a:latin typeface="Calibri"/>
              </a:rPr>
              <a:t>Debug</a:t>
            </a:r>
            <a:endParaRPr sz="105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609344" y="3957320"/>
            <a:ext cx="2331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SW-DP / JTAG, TPIU trace interface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20040" y="4416552"/>
            <a:ext cx="3648456" cy="457200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4441952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A4F"/>
                </a:solidFill>
                <a:latin typeface="Calibri"/>
              </a:rPr>
              <a:t>Boot ROM</a:t>
            </a:r>
            <a:endParaRPr sz="105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609344" y="4441952"/>
            <a:ext cx="2331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Factory bootloader (USART1/USB DFU)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20040" y="4901184"/>
            <a:ext cx="364845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4926584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A4F"/>
                </a:solidFill>
                <a:latin typeface="Calibri"/>
              </a:rPr>
              <a:t>BKP</a:t>
            </a:r>
            <a:endParaRPr sz="105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609344" y="4926584"/>
            <a:ext cx="2331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10× 16-bit backup data registers (VBAT)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215384" y="1097280"/>
            <a:ext cx="3749039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15384" y="1097280"/>
            <a:ext cx="3749039" cy="347472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06824" y="114300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APB1 Peripherals  (max 36 MHz)</a:t>
            </a:r>
            <a:endParaRPr sz="115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261104" y="1508760"/>
            <a:ext cx="3648456" cy="457200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25112" y="153416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A8A"/>
                </a:solidFill>
                <a:latin typeface="Calibri"/>
              </a:rPr>
              <a:t>TIM2–4</a:t>
            </a:r>
            <a:endParaRPr sz="105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550408" y="1534160"/>
            <a:ext cx="2331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General-purpose, 4 channels each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261104" y="1993392"/>
            <a:ext cx="364845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25112" y="2018792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A8A"/>
                </a:solidFill>
                <a:latin typeface="Calibri"/>
              </a:rPr>
              <a:t>USART2–3</a:t>
            </a:r>
            <a:endParaRPr sz="105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550408" y="2018792"/>
            <a:ext cx="2331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Async / sync serial, SmartCard, IrDA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261104" y="2478024"/>
            <a:ext cx="3648456" cy="457200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25112" y="2503424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A8A"/>
                </a:solidFill>
                <a:latin typeface="Calibri"/>
              </a:rPr>
              <a:t>SPI2</a:t>
            </a:r>
            <a:endParaRPr sz="105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550408" y="2503424"/>
            <a:ext cx="2331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Full-duplex, up to 18 Mbps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261104" y="2962656"/>
            <a:ext cx="364845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25112" y="2988056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A8A"/>
                </a:solidFill>
                <a:latin typeface="Calibri"/>
              </a:rPr>
              <a:t>I²C 1–2</a:t>
            </a:r>
            <a:endParaRPr sz="105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550408" y="2988056"/>
            <a:ext cx="2331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Standard / Fast mode, SMBus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261104" y="3447288"/>
            <a:ext cx="3648456" cy="457200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25112" y="3472688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A8A"/>
                </a:solidFill>
                <a:latin typeface="Calibri"/>
              </a:rPr>
              <a:t>bxCAN</a:t>
            </a:r>
            <a:endParaRPr sz="105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550408" y="3472688"/>
            <a:ext cx="2331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CAN 2.0B, 3 TX + 2 RX mailboxes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261104" y="3931920"/>
            <a:ext cx="364845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25112" y="395732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A8A"/>
                </a:solidFill>
                <a:latin typeface="Calibri"/>
              </a:rPr>
              <a:t>USB</a:t>
            </a:r>
            <a:endParaRPr sz="105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550408" y="3957320"/>
            <a:ext cx="2331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2.0 FS, 512 B SRAM, no ext. PHY needed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261104" y="4416552"/>
            <a:ext cx="3648456" cy="457200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25112" y="4441952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A8A"/>
                </a:solidFill>
                <a:latin typeface="Calibri"/>
              </a:rPr>
              <a:t>PWR</a:t>
            </a:r>
            <a:endParaRPr sz="105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550408" y="4441952"/>
            <a:ext cx="2331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Power control registers (CR, CSR)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4261104" y="4901184"/>
            <a:ext cx="364845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25112" y="4926584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A8A"/>
                </a:solidFill>
                <a:latin typeface="Calibri"/>
              </a:rPr>
              <a:t>BKP ctrl</a:t>
            </a:r>
            <a:endParaRPr sz="105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550408" y="4926584"/>
            <a:ext cx="2331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Backup domain control + tamper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156448" y="1097280"/>
            <a:ext cx="3749039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56448" y="1097280"/>
            <a:ext cx="3749039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47888" y="114300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APB2 Peripherals  (max 72 MHz)</a:t>
            </a:r>
            <a:endParaRPr sz="115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8202168" y="1508760"/>
            <a:ext cx="3648456" cy="457200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66176" y="153416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5C0"/>
                </a:solidFill>
                <a:latin typeface="Calibri"/>
              </a:rPr>
              <a:t>TIM1</a:t>
            </a:r>
            <a:endParaRPr sz="105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491472" y="1534160"/>
            <a:ext cx="2331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Advanced motor-control, complementary out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8202168" y="1993392"/>
            <a:ext cx="364845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66176" y="2018792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5C0"/>
                </a:solidFill>
                <a:latin typeface="Calibri"/>
              </a:rPr>
              <a:t>GPIOA–E</a:t>
            </a:r>
            <a:endParaRPr sz="105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491472" y="2018792"/>
            <a:ext cx="2331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37 I/O, CRL/CRH (4 bits/pin)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8202168" y="2478024"/>
            <a:ext cx="3648456" cy="457200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66176" y="2503424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5C0"/>
                </a:solidFill>
                <a:latin typeface="Calibri"/>
              </a:rPr>
              <a:t>USART1</a:t>
            </a:r>
            <a:endParaRPr sz="105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9491472" y="2503424"/>
            <a:ext cx="2331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High-speed async, up to 4.5 Mbps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8202168" y="2962656"/>
            <a:ext cx="364845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66176" y="2988056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5C0"/>
                </a:solidFill>
                <a:latin typeface="Calibri"/>
              </a:rPr>
              <a:t>SPI1</a:t>
            </a:r>
            <a:endParaRPr sz="105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9491472" y="2988056"/>
            <a:ext cx="2331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High-speed, up to 18 Mbps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8202168" y="3447288"/>
            <a:ext cx="3648456" cy="457200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66176" y="3472688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5C0"/>
                </a:solidFill>
                <a:latin typeface="Calibri"/>
              </a:rPr>
              <a:t>ADC1–2</a:t>
            </a:r>
            <a:endParaRPr sz="105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491472" y="3472688"/>
            <a:ext cx="2331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12-bit SAR, dual mode, 10 ext. channels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8202168" y="3931920"/>
            <a:ext cx="364845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66176" y="3957320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5C0"/>
                </a:solidFill>
                <a:latin typeface="Calibri"/>
              </a:rPr>
              <a:t>AFIO</a:t>
            </a:r>
            <a:endParaRPr sz="105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9491472" y="3957320"/>
            <a:ext cx="2331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Alternate function remap + EXTI routing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8202168" y="4416552"/>
            <a:ext cx="3648456" cy="457200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266176" y="4441952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5C0"/>
                </a:solidFill>
                <a:latin typeface="Calibri"/>
              </a:rPr>
              <a:t>EXTI</a:t>
            </a:r>
            <a:endParaRPr sz="105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9491472" y="4441952"/>
            <a:ext cx="2331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16 GPIO + 4 internal interrupt/event lines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8202168" y="4901184"/>
            <a:ext cx="364845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266176" y="4926584"/>
            <a:ext cx="1188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565C0"/>
                </a:solidFill>
                <a:latin typeface="Calibri"/>
              </a:rPr>
              <a:t>RCC</a:t>
            </a:r>
            <a:endParaRPr sz="105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9491472" y="4926584"/>
            <a:ext cx="23317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Clock generation, prescalers, reset control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Clock and Reset System (RCC)</a:t>
            </a:r>
            <a:endParaRPr sz="26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7472" y="65836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8F0"/>
                </a:solidFill>
                <a:latin typeface="Calibri"/>
              </a:rPr>
              <a:t>HSI / HSE / PLL / LSI / LSE  |  Derived Clocks  |  Clock Gating</a:t>
            </a:r>
            <a:endParaRPr sz="1100" b="0" i="1">
              <a:solidFill>
                <a:srgbClr val="B0C8F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62025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A8C8"/>
                </a:solidFill>
                <a:latin typeface="Calibri"/>
              </a:rPr>
              <a:t>STM32F103C8T6  |  Low-Power Modes and Wake-Up Mechanisms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6620256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A8C8"/>
                </a:solidFill>
                <a:latin typeface="Calibri"/>
              </a:rPr>
              <a:t>5 / 19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" y="6382512"/>
            <a:ext cx="1170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667A"/>
                </a:solidFill>
                <a:latin typeface="Calibri"/>
              </a:rPr>
              <a:t>Source: DS5319 Rev. 20, Fig. 2, p. 12; RM0008 Rev. 21, §7</a:t>
            </a:r>
            <a:endParaRPr sz="800" b="0" i="1">
              <a:solidFill>
                <a:srgbClr val="55667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5486400" cy="5394960"/>
          </a:xfrm>
          <a:prstGeom prst="rect">
            <a:avLst/>
          </a:prstGeom>
          <a:solidFill>
            <a:srgbClr val="E8F0FB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7043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Clock Sources</a:t>
            </a:r>
            <a:endParaRPr sz="130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5257800" cy="19050"/>
          </a:xfrm>
          <a:prstGeom prst="rect">
            <a:avLst/>
          </a:prstGeom>
          <a:solidFill>
            <a:srgbClr val="C5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554480"/>
            <a:ext cx="5212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0D2A4F"/>
                </a:solidFill>
                <a:latin typeface="Calibri"/>
              </a:rPr>
              <a:t>HSI — High-Speed Internal (8 MHz)</a:t>
            </a:r>
            <a:endParaRPr sz="1200" b="1" i="0">
              <a:solidFill>
                <a:srgbClr val="0D2A4F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RC oscillator, factory-calibrated. Selected by default after reset. Fast start-up (~8 cycles). Can drive PLL as HSI/2 (4 MHz source).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0D2A4F"/>
                </a:solidFill>
                <a:latin typeface="Calibri"/>
              </a:rPr>
              <a:t>HSE — High-Speed External (4–16 MHz)</a:t>
            </a:r>
            <a:endParaRPr sz="1200" b="1" i="0">
              <a:solidFill>
                <a:srgbClr val="0D2A4F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External crystal or oscillator. Enables PLL to reach 72 MHz. CSS (Clock Security System) monitors HSE and can fall back to HSI.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0D2A4F"/>
                </a:solidFill>
                <a:latin typeface="Calibri"/>
              </a:rPr>
              <a:t>PLL — Phase-Locked Loop (up to 72 MHz)</a:t>
            </a:r>
            <a:endParaRPr sz="1200" b="1" i="0">
              <a:solidFill>
                <a:srgbClr val="0D2A4F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Source: HSI/2 or HSE. PLLMUL × 2…16. SYSCLK = PLL output. Must be ≤72 MHz.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0D2A4F"/>
                </a:solidFill>
                <a:latin typeface="Calibri"/>
              </a:rPr>
              <a:t>LSI — Low-Speed Internal (~40 kHz)</a:t>
            </a:r>
            <a:endParaRPr sz="1200" b="1" i="0">
              <a:solidFill>
                <a:srgbClr val="0D2A4F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RC oscillator; feeds IWDG. Optional RTC clock source. Active in Stop and Standby if IWDG is running.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0D2A4F"/>
                </a:solidFill>
                <a:latin typeface="Calibri"/>
              </a:rPr>
              <a:t>LSE — Low-Speed External (32.768 kHz)</a:t>
            </a:r>
            <a:endParaRPr sz="1200" b="1" i="0">
              <a:solidFill>
                <a:srgbClr val="0D2A4F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Crystal oscillator in VBAT domain. Primary RTC clock source. Retained in Stop and Standby modes.</a:t>
            </a:r>
            <a:endParaRPr sz="11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80760" y="1097280"/>
            <a:ext cx="5788152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1704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Derived Clocks</a:t>
            </a:r>
            <a:endParaRPr sz="130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5577840" cy="19050"/>
          </a:xfrm>
          <a:prstGeom prst="rect">
            <a:avLst/>
          </a:prstGeom>
          <a:solidFill>
            <a:srgbClr val="C5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554480"/>
            <a:ext cx="5669280" cy="347472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2" y="159258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A8A"/>
                </a:solidFill>
                <a:latin typeface="Calibri"/>
              </a:rPr>
              <a:t>SYSCLK</a:t>
            </a:r>
            <a:endParaRPr sz="105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70648" y="1592580"/>
            <a:ext cx="4251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System clock — HSI, HSE, or PLL output (≤72 MHz)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126480" y="1929384"/>
            <a:ext cx="5669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2" y="1967484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A8A"/>
                </a:solidFill>
                <a:latin typeface="Calibri"/>
              </a:rPr>
              <a:t>HCLK</a:t>
            </a:r>
            <a:endParaRPr sz="105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70648" y="1967484"/>
            <a:ext cx="4251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AHB clock = SYSCLK / AHB prescaler  (core, DMA, SRAM)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126480" y="2304288"/>
            <a:ext cx="5669280" cy="347472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2" y="2342388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A8A"/>
                </a:solidFill>
                <a:latin typeface="Calibri"/>
              </a:rPr>
              <a:t>PCLK1</a:t>
            </a:r>
            <a:endParaRPr sz="105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70648" y="2342388"/>
            <a:ext cx="4251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APB1 clock = HCLK / APB1 prescaler  (≤36 MHz)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126480" y="2679192"/>
            <a:ext cx="5669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9632" y="2717292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A8A"/>
                </a:solidFill>
                <a:latin typeface="Calibri"/>
              </a:rPr>
              <a:t>PCLK2</a:t>
            </a:r>
            <a:endParaRPr sz="105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470648" y="2717292"/>
            <a:ext cx="4251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APB2 clock = HCLK / APB2 prescaler  (≤72 MHz)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126480" y="3054096"/>
            <a:ext cx="5669280" cy="347472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9632" y="3092196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A8A"/>
                </a:solidFill>
                <a:latin typeface="Calibri"/>
              </a:rPr>
              <a:t>ADCCLK</a:t>
            </a:r>
            <a:endParaRPr sz="105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70648" y="3092196"/>
            <a:ext cx="4251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PCLK2 / 2/4/6/8  (≤14 MHz for 12-bit conversion)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126480" y="3429000"/>
            <a:ext cx="56692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9632" y="346710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A8A"/>
                </a:solidFill>
                <a:latin typeface="Calibri"/>
              </a:rPr>
              <a:t>RTCCLK</a:t>
            </a:r>
            <a:endParaRPr sz="105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470648" y="3467100"/>
            <a:ext cx="4251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LSE (preferred) or LSI or HSE/128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126480" y="3803904"/>
            <a:ext cx="5669280" cy="347472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9632" y="3842004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A8A"/>
                </a:solidFill>
                <a:latin typeface="Calibri"/>
              </a:rPr>
              <a:t>IWDGCLK</a:t>
            </a:r>
            <a:endParaRPr sz="105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470648" y="3842004"/>
            <a:ext cx="4251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LSI only — independent watchdog always uses LSI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080760" y="4343400"/>
            <a:ext cx="5788152" cy="2148840"/>
          </a:xfrm>
          <a:prstGeom prst="rect">
            <a:avLst/>
          </a:prstGeom>
          <a:solidFill>
            <a:srgbClr val="FDF2EE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44348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Calibri"/>
              </a:rPr>
              <a:t>Clock Gating — Power Relevance</a:t>
            </a:r>
            <a:endParaRPr sz="1200" b="1" i="0">
              <a:solidFill>
                <a:srgbClr val="C62828"/>
              </a:solidFill>
              <a:latin typeface="Calibri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217920" y="4727448"/>
            <a:ext cx="5577840" cy="19050"/>
          </a:xfrm>
          <a:prstGeom prst="rect">
            <a:avLst/>
          </a:prstGeom>
          <a:solidFill>
            <a:srgbClr val="C5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4818888"/>
            <a:ext cx="5486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Each APB1/APB2 peripheral has a dedicated clock-enable bit: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D2A4F"/>
                </a:solidFill>
                <a:latin typeface="Calibri"/>
              </a:rPr>
              <a:t>•  RCC_APB1ENR  and  RCC_APB2ENR</a:t>
            </a:r>
            <a:endParaRPr sz="1100" b="1">
              <a:solidFill>
                <a:srgbClr val="0D2A4F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Disabling unused peripherals before WFI reduces dynamic current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in Run mode and maximises power savings in Sleep mode.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In Stop mode, all APB/AHB clocks are halted automatically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regardless of the RCC enable bits.</a:t>
            </a:r>
            <a:endParaRPr sz="1100" b="0">
              <a:solidFill>
                <a:srgbClr val="1A2B4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GPIO, NVIC and EXTI</a:t>
            </a:r>
            <a:endParaRPr sz="26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7472" y="65836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8F0"/>
                </a:solidFill>
                <a:latin typeface="Calibri"/>
              </a:rPr>
              <a:t>External Interrupt/Event Lines  |  Wake-Up Path</a:t>
            </a:r>
            <a:endParaRPr sz="1100" b="0" i="1">
              <a:solidFill>
                <a:srgbClr val="B0C8F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62025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A8C8"/>
                </a:solidFill>
                <a:latin typeface="Calibri"/>
              </a:rPr>
              <a:t>STM32F103C8T6  |  Low-Power Modes and Wake-Up Mechanisms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6620256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A8C8"/>
                </a:solidFill>
                <a:latin typeface="Calibri"/>
              </a:rPr>
              <a:t>6 / 19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" y="6382512"/>
            <a:ext cx="1170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667A"/>
                </a:solidFill>
                <a:latin typeface="Calibri"/>
              </a:rPr>
              <a:t>Source: RM0008 Rev. 21, §9 (GPIO), §10 (EXTI), §4.3 (NVIC)</a:t>
            </a:r>
            <a:endParaRPr sz="800" b="0" i="1">
              <a:solidFill>
                <a:srgbClr val="55667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3749039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97280"/>
            <a:ext cx="3749039" cy="320040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133856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GPIO</a:t>
            </a:r>
            <a:endParaRPr sz="12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" y="1508760"/>
            <a:ext cx="35204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37 I/O pins available on LQFP48 package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Ports PA through PE (up to 16 pins each)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Configured per-pin via GPIOx_CRL (pins 0–7)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and GPIOx_CRH (pins 8–15)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D2A4F"/>
                </a:solidFill>
                <a:latin typeface="Calibri"/>
              </a:rPr>
              <a:t>•  4 bits per pin: MODE[1:0] + CNF[1:0]</a:t>
            </a:r>
            <a:endParaRPr sz="1100" b="1">
              <a:solidFill>
                <a:srgbClr val="0D2A4F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MODE=00: Input mode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MODE=01/10/11: Output at 2/10/50 MHz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D2A4F"/>
                </a:solidFill>
                <a:latin typeface="Calibri"/>
              </a:rPr>
              <a:t>•  Pull-up / Pull-down (input mode):</a:t>
            </a:r>
            <a:endParaRPr sz="1100" b="1">
              <a:solidFill>
                <a:srgbClr val="0D2A4F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CNF=10b enables pull; ODR=1 → pull-up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ODR=0 → pull-down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D2A4F"/>
                </a:solidFill>
                <a:latin typeface="Calibri"/>
              </a:rPr>
              <a:t>•  GPIO as wake-up source:</a:t>
            </a:r>
            <a:endParaRPr sz="1100" b="1">
              <a:solidFill>
                <a:srgbClr val="0D2A4F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Route through AFIO_EXTICRx to EXTI line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then configure EXTI + NVIC for interrupt</a:t>
            </a:r>
            <a:endParaRPr sz="1100" b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215384" y="1097280"/>
            <a:ext cx="3749039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15384" y="1097280"/>
            <a:ext cx="3749039" cy="3200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6824" y="1133856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EXTI — External Interrupt/Event</a:t>
            </a:r>
            <a:endParaRPr sz="12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25112" y="1508760"/>
            <a:ext cx="35204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D2A4F"/>
                </a:solidFill>
                <a:latin typeface="Calibri"/>
              </a:rPr>
              <a:t>•  19 EXTI lines in STM32F103 (EXTI0–EXTI18):</a:t>
            </a:r>
            <a:endParaRPr sz="1100" b="1">
              <a:solidFill>
                <a:srgbClr val="0D2A4F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Lines 0–15: configurable from any GPIO pin (PA–PE)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Line 16: connected to PVD output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Line 17: connected to RTC Alarm event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Line 18: connected to USB Wakeup event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55667A"/>
                </a:solidFill>
                <a:latin typeface="Calibri"/>
              </a:rPr>
              <a:t>•  (Line 19 is Ethernet in connectivity line F105/107 only)</a:t>
            </a:r>
            <a:endParaRPr sz="1100" b="0">
              <a:solidFill>
                <a:srgbClr val="55667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D2A4F"/>
                </a:solidFill>
                <a:latin typeface="Calibri"/>
              </a:rPr>
              <a:t>•  Configuration registers:</a:t>
            </a:r>
            <a:endParaRPr sz="1100" b="1">
              <a:solidFill>
                <a:srgbClr val="0D2A4F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EXTI_IMR   — Interrupt mask (unmask = enable IRQ)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EXTI_EMR  — Event mask (unmask = enable event)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EXTI_RTSR — Rising trigger select register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EXTI_FTSR — Falling trigger select register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EXTI_PR    — Pending register (clear by writing 1)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</a:t>
            </a:r>
            <a:endParaRPr sz="1100" b="0">
              <a:solidFill>
                <a:srgbClr val="1A2B4A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D2A4F"/>
                </a:solidFill>
                <a:latin typeface="Calibri"/>
              </a:rPr>
              <a:t>•  Interrupt path: EXTI → NVIC → CPU ISR</a:t>
            </a:r>
            <a:endParaRPr sz="1100" b="1">
              <a:solidFill>
                <a:srgbClr val="0D2A4F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A2B4A"/>
                </a:solidFill>
                <a:latin typeface="Calibri"/>
              </a:rPr>
              <a:t>•  Event path: EXTI → WFE wake (no ISR needed)</a:t>
            </a:r>
            <a:endParaRPr sz="1100" b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156448" y="1097280"/>
            <a:ext cx="3730752" cy="5394960"/>
          </a:xfrm>
          <a:prstGeom prst="rect">
            <a:avLst/>
          </a:prstGeom>
          <a:solidFill>
            <a:srgbClr val="E8F0FB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17043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A4F"/>
                </a:solidFill>
                <a:latin typeface="Calibri"/>
              </a:rPr>
              <a:t>Interrupt Wake-Up Flow</a:t>
            </a:r>
            <a:endParaRPr sz="120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275320" y="1463040"/>
            <a:ext cx="3520440" cy="19050"/>
          </a:xfrm>
          <a:prstGeom prst="rect">
            <a:avLst/>
          </a:prstGeom>
          <a:solidFill>
            <a:srgbClr val="C5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49640" y="1554480"/>
            <a:ext cx="2926080" cy="429768"/>
          </a:xfrm>
          <a:prstGeom prst="rect">
            <a:avLst/>
          </a:prstGeom>
          <a:solidFill>
            <a:srgbClr val="E8F0FB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13648" y="1592580"/>
            <a:ext cx="2816352" cy="353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GPIO pin  (PA0–PE15)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939528" y="1996948"/>
            <a:ext cx="164592" cy="3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549640" y="2048256"/>
            <a:ext cx="2926080" cy="429768"/>
          </a:xfrm>
          <a:prstGeom prst="rect">
            <a:avLst/>
          </a:prstGeom>
          <a:solidFill>
            <a:srgbClr val="E8F0FB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13648" y="2086356"/>
            <a:ext cx="2816352" cy="353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AFIO_EXTICRx
(port → EXTI line)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939528" y="2490724"/>
            <a:ext cx="164592" cy="3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549640" y="2542032"/>
            <a:ext cx="2926080" cy="429768"/>
          </a:xfrm>
          <a:prstGeom prst="rect">
            <a:avLst/>
          </a:prstGeom>
          <a:solidFill>
            <a:srgbClr val="E8F0FB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13648" y="2580132"/>
            <a:ext cx="2816352" cy="353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EXTI_RTSR / FTSR
(edge selection)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939528" y="2984500"/>
            <a:ext cx="164592" cy="3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549640" y="3035808"/>
            <a:ext cx="2926080" cy="429768"/>
          </a:xfrm>
          <a:prstGeom prst="rect">
            <a:avLst/>
          </a:prstGeom>
          <a:solidFill>
            <a:srgbClr val="E8F0FB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13648" y="3073908"/>
            <a:ext cx="2816352" cy="353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EXTI_IMR bit set
(unmask interrupt)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939528" y="3478276"/>
            <a:ext cx="164592" cy="3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549640" y="3529584"/>
            <a:ext cx="2926080" cy="429768"/>
          </a:xfrm>
          <a:prstGeom prst="rect">
            <a:avLst/>
          </a:prstGeom>
          <a:solidFill>
            <a:srgbClr val="E8F0FB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13648" y="3567684"/>
            <a:ext cx="2816352" cy="353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NVIC_ISER bit set
(enable IRQ)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939528" y="3972052"/>
            <a:ext cx="164592" cy="3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549640" y="4023360"/>
            <a:ext cx="2926080" cy="429768"/>
          </a:xfrm>
          <a:prstGeom prst="rect">
            <a:avLst/>
          </a:prstGeom>
          <a:solidFill>
            <a:srgbClr val="E8F0FB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13648" y="4061460"/>
            <a:ext cx="2816352" cy="353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Execute WFI
(CPU sleeps)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939528" y="4465828"/>
            <a:ext cx="164592" cy="3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549640" y="4517136"/>
            <a:ext cx="2926080" cy="429768"/>
          </a:xfrm>
          <a:prstGeom prst="rect">
            <a:avLst/>
          </a:prstGeom>
          <a:solidFill>
            <a:srgbClr val="E8F0FB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13648" y="4555236"/>
            <a:ext cx="2816352" cy="353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Edge detected
→ EXTI_PR set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939528" y="4959604"/>
            <a:ext cx="164592" cy="3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549640" y="5010912"/>
            <a:ext cx="2926080" cy="429768"/>
          </a:xfrm>
          <a:prstGeom prst="rect">
            <a:avLst/>
          </a:prstGeom>
          <a:solidFill>
            <a:srgbClr val="E8F0FB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13648" y="5049012"/>
            <a:ext cx="2816352" cy="353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NVIC activates IRQ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939528" y="5453380"/>
            <a:ext cx="164592" cy="3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8549640" y="5504688"/>
            <a:ext cx="2926080" cy="429768"/>
          </a:xfrm>
          <a:prstGeom prst="rect">
            <a:avLst/>
          </a:prstGeom>
          <a:solidFill>
            <a:srgbClr val="E8F0FB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13648" y="5542788"/>
            <a:ext cx="2816352" cy="353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ISR executes
(CPU awake)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STM32F103C8T6 Power-Control Architecture</a:t>
            </a:r>
            <a:endParaRPr sz="26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7472" y="65836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8F0"/>
                </a:solidFill>
                <a:latin typeface="Calibri"/>
              </a:rPr>
              <a:t>VDD Domains  |  Internal Regulator  |  PWR  |  RCC  |  Cortex-M3 SCB</a:t>
            </a:r>
            <a:endParaRPr sz="1100" b="0" i="1">
              <a:solidFill>
                <a:srgbClr val="B0C8F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62025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A8C8"/>
                </a:solidFill>
                <a:latin typeface="Calibri"/>
              </a:rPr>
              <a:t>STM32F103C8T6  |  Low-Power Modes and Wake-Up Mechanisms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6620256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A8C8"/>
                </a:solidFill>
                <a:latin typeface="Calibri"/>
              </a:rPr>
              <a:t>7 / 19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" y="6382512"/>
            <a:ext cx="1170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667A"/>
                </a:solidFill>
                <a:latin typeface="Calibri"/>
              </a:rPr>
              <a:t>Source: RM0008 Rev. 21, §5 (PWR); §7 (RCC)</a:t>
            </a:r>
            <a:endParaRPr sz="800" b="0" i="1">
              <a:solidFill>
                <a:srgbClr val="55667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3291840" cy="5394960"/>
          </a:xfrm>
          <a:prstGeom prst="rect">
            <a:avLst/>
          </a:prstGeom>
          <a:solidFill>
            <a:srgbClr val="E8F0FB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7043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Power Domains</a:t>
            </a:r>
            <a:endParaRPr sz="130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3063240" cy="19050"/>
          </a:xfrm>
          <a:prstGeom prst="rect">
            <a:avLst/>
          </a:prstGeom>
          <a:solidFill>
            <a:srgbClr val="C5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3192" y="1554480"/>
            <a:ext cx="3145536" cy="1078992"/>
          </a:xfrm>
          <a:prstGeom prst="rect">
            <a:avLst/>
          </a:prstGeom>
          <a:solidFill>
            <a:srgbClr val="EFF4FD"/>
          </a:solidFill>
          <a:ln w="508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16052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2A4F"/>
                </a:solidFill>
                <a:latin typeface="Calibri"/>
              </a:rPr>
              <a:t>VDD  (2.0–3.6 V)</a:t>
            </a:r>
            <a:endParaRPr sz="115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5488" y="191008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Main supply — I/O pads &amp; 1.8V regulator.
Externally supplied in all operational modes.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93192" y="2715768"/>
            <a:ext cx="3145536" cy="1078992"/>
          </a:xfrm>
          <a:prstGeom prst="rect">
            <a:avLst/>
          </a:prstGeom>
          <a:solidFill>
            <a:srgbClr val="FFFFFF"/>
          </a:solidFill>
          <a:ln w="508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76656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7A8A"/>
                </a:solidFill>
                <a:latin typeface="Calibri"/>
              </a:rPr>
              <a:t>VDDA  (2.0–3.6 V)</a:t>
            </a:r>
            <a:endParaRPr sz="115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5488" y="3071368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Analog supply — ADC, reset, RC, PLL.
Must be at same potential as VDD (VDDA = VDD).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93192" y="3877056"/>
            <a:ext cx="3145536" cy="1078992"/>
          </a:xfrm>
          <a:prstGeom prst="rect">
            <a:avLst/>
          </a:prstGeom>
          <a:solidFill>
            <a:srgbClr val="EFF4FD"/>
          </a:solidFill>
          <a:ln w="508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92785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565C0"/>
                </a:solidFill>
                <a:latin typeface="Calibri"/>
              </a:rPr>
              <a:t>1.8 V Core Domain</a:t>
            </a:r>
            <a:endParaRPr sz="115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5488" y="4232656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Supplied by internal regulator from VDD.
Powers CPU core, SRAM, and digital logic.
ON in Run/Sleep/Stop; powered off in Standby.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93192" y="5038344"/>
            <a:ext cx="3145536" cy="1078992"/>
          </a:xfrm>
          <a:prstGeom prst="rect">
            <a:avLst/>
          </a:prstGeom>
          <a:solidFill>
            <a:srgbClr val="FFFFFF"/>
          </a:solidFill>
          <a:ln w="508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508914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65900"/>
                </a:solidFill>
                <a:latin typeface="Calibri"/>
              </a:rPr>
              <a:t>VBAT  (1.65–3.6 V)</a:t>
            </a:r>
            <a:endParaRPr sz="1150" b="1" i="0">
              <a:solidFill>
                <a:srgbClr val="E65900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5488" y="5393944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Backup domain — RTC, BKP regs, LSE (32 kHz).
Powered via VBAT pin when VDD is off.
Active in ALL modes incl. Standby.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886200" y="1097280"/>
            <a:ext cx="425196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69080" y="117043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Low-Power Control Hierarchy</a:t>
            </a:r>
            <a:endParaRPr sz="130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023360" y="1463040"/>
            <a:ext cx="4050791" cy="19050"/>
          </a:xfrm>
          <a:prstGeom prst="rect">
            <a:avLst/>
          </a:prstGeom>
          <a:solidFill>
            <a:srgbClr val="C5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977639" y="1554480"/>
            <a:ext cx="4069080" cy="777240"/>
          </a:xfrm>
          <a:prstGeom prst="rect">
            <a:avLst/>
          </a:prstGeom>
          <a:solidFill>
            <a:srgbClr val="E8F0FB"/>
          </a:solidFill>
          <a:ln w="12700">
            <a:solidFill>
              <a:srgbClr val="0D2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69080" y="160528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A4F"/>
                </a:solidFill>
                <a:latin typeface="Calibri"/>
              </a:rPr>
              <a:t>Cortex-M3 Core</a:t>
            </a:r>
            <a:endParaRPr sz="120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069080" y="1884680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SCB→SCR: SLEEPDEEP bit
WFI / WFE instructions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943600" y="2350008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565C0"/>
                </a:solidFill>
                <a:latin typeface="Calibri"/>
              </a:rPr>
              <a:t>↓</a:t>
            </a:r>
            <a:endParaRPr sz="10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977639" y="2450592"/>
            <a:ext cx="4069080" cy="777240"/>
          </a:xfrm>
          <a:prstGeom prst="rect">
            <a:avLst/>
          </a:prstGeom>
          <a:solidFill>
            <a:srgbClr val="E8F0FB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69080" y="250139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Calibri"/>
              </a:rPr>
              <a:t>PWR Peripheral</a:t>
            </a:r>
            <a:endParaRPr sz="120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069080" y="2780792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PWR_CR: PDDS, LPDS, DBP
PWR_CSR: EWUP, WUF, SBF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43600" y="3246120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565C0"/>
                </a:solidFill>
                <a:latin typeface="Calibri"/>
              </a:rPr>
              <a:t>↓</a:t>
            </a:r>
            <a:endParaRPr sz="10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977639" y="3346704"/>
            <a:ext cx="4069080" cy="777240"/>
          </a:xfrm>
          <a:prstGeom prst="rect">
            <a:avLst/>
          </a:prstGeom>
          <a:solidFill>
            <a:srgbClr val="E8F0FB"/>
          </a:solidFill>
          <a:ln w="12700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69080" y="3397504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8A"/>
                </a:solidFill>
                <a:latin typeface="Calibri"/>
              </a:rPr>
              <a:t>RCC Controller</a:t>
            </a:r>
            <a:endParaRPr sz="120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069080" y="3676904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Clock enable/disable
HSI/HSE/PLL on-off control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943600" y="4142232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565C0"/>
                </a:solidFill>
                <a:latin typeface="Calibri"/>
              </a:rPr>
              <a:t>↓</a:t>
            </a:r>
            <a:endParaRPr sz="10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977639" y="4242816"/>
            <a:ext cx="4069080" cy="777240"/>
          </a:xfrm>
          <a:prstGeom prst="rect">
            <a:avLst/>
          </a:prstGeom>
          <a:solidFill>
            <a:srgbClr val="E8F0FB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69080" y="42936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Calibri"/>
              </a:rPr>
              <a:t>EXTI Controller</a:t>
            </a:r>
            <a:endParaRPr sz="120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069080" y="4573016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Interrupt &amp; Event routing
Wake-up trigger selection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943600" y="5038344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565C0"/>
                </a:solidFill>
                <a:latin typeface="Calibri"/>
              </a:rPr>
              <a:t>↓</a:t>
            </a:r>
            <a:endParaRPr sz="10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3977639" y="5138928"/>
            <a:ext cx="4069080" cy="777240"/>
          </a:xfrm>
          <a:prstGeom prst="rect">
            <a:avLst/>
          </a:prstGeom>
          <a:solidFill>
            <a:srgbClr val="E8F0FB"/>
          </a:solidFill>
          <a:ln w="12700">
            <a:solidFill>
              <a:srgbClr val="0D2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69080" y="518972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A4F"/>
                </a:solidFill>
                <a:latin typeface="Calibri"/>
              </a:rPr>
              <a:t>NVIC</a:t>
            </a:r>
            <a:endParaRPr sz="120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069080" y="5469128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IRQ enable, priority
Pending / active tracking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412480" y="1097280"/>
            <a:ext cx="3456432" cy="5394960"/>
          </a:xfrm>
          <a:prstGeom prst="rect">
            <a:avLst/>
          </a:prstGeom>
          <a:solidFill>
            <a:srgbClr val="E8F0FB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95360" y="11704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A4F"/>
                </a:solidFill>
                <a:latin typeface="Calibri"/>
              </a:rPr>
              <a:t>Low-Power Entry Sequence</a:t>
            </a:r>
            <a:endParaRPr sz="120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8549640" y="1463040"/>
            <a:ext cx="3246120" cy="19050"/>
          </a:xfrm>
          <a:prstGeom prst="rect">
            <a:avLst/>
          </a:prstGeom>
          <a:solidFill>
            <a:srgbClr val="C5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641080" y="1554480"/>
            <a:ext cx="297180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05088" y="1592580"/>
            <a:ext cx="2862072" cy="591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B4A"/>
                </a:solidFill>
                <a:latin typeface="Calibri"/>
              </a:rPr>
              <a:t>1. Configure EXTI / NVIC
    (select wake-up source)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053828" y="2234692"/>
            <a:ext cx="164592" cy="5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8641080" y="2304288"/>
            <a:ext cx="297180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05088" y="2342388"/>
            <a:ext cx="2862072" cy="591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B4A"/>
                </a:solidFill>
                <a:latin typeface="Calibri"/>
              </a:rPr>
              <a:t>2. SCB→SCR.SLEEPDEEP
    (0 = Sleep; 1 = Stop/Standby)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0053828" y="2984500"/>
            <a:ext cx="164592" cy="5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8641080" y="3054096"/>
            <a:ext cx="297180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05088" y="3092196"/>
            <a:ext cx="2862072" cy="591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B4A"/>
                </a:solidFill>
                <a:latin typeface="Calibri"/>
              </a:rPr>
              <a:t>3. PWR_CR: PDDS + LPDS
    (mode and regulator select)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053828" y="3734308"/>
            <a:ext cx="164592" cy="5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8641080" y="3803904"/>
            <a:ext cx="297180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705088" y="3842004"/>
            <a:ext cx="2862072" cy="591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B4A"/>
                </a:solidFill>
                <a:latin typeface="Calibri"/>
              </a:rPr>
              <a:t>4. Write PWR_CR.CWUF = 1
    (clear stale wake-up flag)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53828" y="4484116"/>
            <a:ext cx="164592" cy="5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8641080" y="4553712"/>
            <a:ext cx="297180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05088" y="4591812"/>
            <a:ext cx="2862072" cy="591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B4A"/>
                </a:solidFill>
                <a:latin typeface="Calibri"/>
              </a:rPr>
              <a:t>5. Execute WFI or WFE
    (processor halts)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0053828" y="5233924"/>
            <a:ext cx="164592" cy="5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8641080" y="5303520"/>
            <a:ext cx="297180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05088" y="5341620"/>
            <a:ext cx="2862072" cy="591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B4A"/>
                </a:solidFill>
                <a:latin typeface="Calibri"/>
              </a:rPr>
              <a:t>6. Wake-up event/interrupt
    (clocks restore, resume code)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STM32F103C8T6 — Low-Power Modes</a:t>
            </a:r>
            <a:endParaRPr sz="26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7472" y="65836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8F0"/>
                </a:solidFill>
                <a:latin typeface="Calibri"/>
              </a:rPr>
              <a:t>Official modes per RM0008 Rev. 21, §5.3  |  Sleep  |  Stop  |  Standby</a:t>
            </a:r>
            <a:endParaRPr sz="1100" b="0" i="1">
              <a:solidFill>
                <a:srgbClr val="B0C8F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62025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A8C8"/>
                </a:solidFill>
                <a:latin typeface="Calibri"/>
              </a:rPr>
              <a:t>STM32F103C8T6  |  Low-Power Modes and Wake-Up Mechanisms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6620256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A8C8"/>
                </a:solidFill>
                <a:latin typeface="Calibri"/>
              </a:rPr>
              <a:t>8 / 19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" y="6382512"/>
            <a:ext cx="1170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667A"/>
                </a:solidFill>
                <a:latin typeface="Calibri"/>
              </a:rPr>
              <a:t>Source: RM0008 Rev. 21, §5.3, Table 11, p. 72</a:t>
            </a:r>
            <a:endParaRPr sz="800" b="0" i="1">
              <a:solidFill>
                <a:srgbClr val="55667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3749039" cy="5394960"/>
          </a:xfrm>
          <a:prstGeom prst="rect">
            <a:avLst/>
          </a:prstGeom>
          <a:solidFill>
            <a:srgbClr val="F0FAF8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97280"/>
            <a:ext cx="3749039" cy="41148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16128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SLEEP</a:t>
            </a:r>
            <a:endParaRPr sz="15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9184" y="1600200"/>
            <a:ext cx="3621024" cy="438912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6383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A"/>
                </a:solidFill>
                <a:latin typeface="Calibri"/>
              </a:rPr>
              <a:t>SLEEPDEEP</a:t>
            </a:r>
            <a:endParaRPr sz="100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16383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= 0  (SCB→SCR)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9184" y="2075688"/>
            <a:ext cx="362102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113788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A"/>
                </a:solidFill>
                <a:latin typeface="Calibri"/>
              </a:rPr>
              <a:t>PDDS</a:t>
            </a:r>
            <a:endParaRPr sz="100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28800" y="21137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N/A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29184" y="2551176"/>
            <a:ext cx="3621024" cy="438912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589276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A"/>
                </a:solidFill>
                <a:latin typeface="Calibri"/>
              </a:rPr>
              <a:t>CPU</a:t>
            </a:r>
            <a:endParaRPr sz="100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28800" y="25892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Halted  (WFI or WFE)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9184" y="3026664"/>
            <a:ext cx="362102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3064764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A"/>
                </a:solidFill>
                <a:latin typeface="Calibri"/>
              </a:rPr>
              <a:t>Peripherals</a:t>
            </a:r>
            <a:endParaRPr sz="100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828800" y="306476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All clocks continue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29184" y="3502152"/>
            <a:ext cx="3621024" cy="438912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354025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A"/>
                </a:solidFill>
                <a:latin typeface="Calibri"/>
              </a:rPr>
              <a:t>SRAM</a:t>
            </a:r>
            <a:endParaRPr sz="100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828800" y="35402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7A8A"/>
                </a:solidFill>
                <a:latin typeface="Calibri"/>
              </a:rPr>
              <a:t>Retained  ✓</a:t>
            </a:r>
            <a:endParaRPr sz="1000" b="0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29184" y="3977640"/>
            <a:ext cx="362102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40157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A"/>
                </a:solidFill>
                <a:latin typeface="Calibri"/>
              </a:rPr>
              <a:t>Regulator</a:t>
            </a:r>
            <a:endParaRPr sz="100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828800" y="40157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ON — normal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29184" y="4453128"/>
            <a:ext cx="3621024" cy="438912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4491228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A"/>
                </a:solidFill>
                <a:latin typeface="Calibri"/>
              </a:rPr>
              <a:t>Wake sources</a:t>
            </a:r>
            <a:endParaRPr sz="100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828800" y="44912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Any enabled interrupt / event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29184" y="4928616"/>
            <a:ext cx="362102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4966716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A"/>
                </a:solidFill>
                <a:latin typeface="Calibri"/>
              </a:rPr>
              <a:t>Restart</a:t>
            </a:r>
            <a:endParaRPr sz="100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828800" y="496671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Resumes from next instruction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29184" y="5404104"/>
            <a:ext cx="3621024" cy="438912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" y="5442204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A"/>
                </a:solidFill>
                <a:latin typeface="Calibri"/>
              </a:rPr>
              <a:t>Typical use</a:t>
            </a:r>
            <a:endParaRPr sz="100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828800" y="544220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Short idle between tasks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215384" y="1097280"/>
            <a:ext cx="3749039" cy="5394960"/>
          </a:xfrm>
          <a:prstGeom prst="rect">
            <a:avLst/>
          </a:prstGeom>
          <a:solidFill>
            <a:srgbClr val="F0F5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15384" y="1097280"/>
            <a:ext cx="3749039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06824" y="116128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STOP</a:t>
            </a:r>
            <a:endParaRPr sz="15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270248" y="1600200"/>
            <a:ext cx="3621024" cy="438912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25112" y="16383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Calibri"/>
              </a:rPr>
              <a:t>SLEEPDEEP</a:t>
            </a:r>
            <a:endParaRPr sz="100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769864" y="16383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= 1  (SCB→SCR)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270248" y="2075688"/>
            <a:ext cx="362102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25112" y="2113788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Calibri"/>
              </a:rPr>
              <a:t>PDDS</a:t>
            </a:r>
            <a:endParaRPr sz="100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769864" y="21137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= 0  (PWR_CR)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270248" y="2551176"/>
            <a:ext cx="3621024" cy="438912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25112" y="2589276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Calibri"/>
              </a:rPr>
              <a:t>CPU</a:t>
            </a:r>
            <a:endParaRPr sz="100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769864" y="25892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Halted  (WFI or WFE)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270248" y="3026664"/>
            <a:ext cx="362102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25112" y="3064764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Calibri"/>
              </a:rPr>
              <a:t>All clocks</a:t>
            </a:r>
            <a:endParaRPr sz="100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769864" y="306476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HSI, HSE, PLL stopped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270248" y="3502152"/>
            <a:ext cx="3621024" cy="438912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25112" y="354025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Calibri"/>
              </a:rPr>
              <a:t>SRAM</a:t>
            </a:r>
            <a:endParaRPr sz="100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769864" y="35402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565C0"/>
                </a:solidFill>
                <a:latin typeface="Calibri"/>
              </a:rPr>
              <a:t>Retained  ✓</a:t>
            </a:r>
            <a:endParaRPr sz="10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270248" y="3977640"/>
            <a:ext cx="362102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25112" y="40157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Calibri"/>
              </a:rPr>
              <a:t>Regulator</a:t>
            </a:r>
            <a:endParaRPr sz="100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769864" y="40157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ON or low-power (LPDS bit)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4270248" y="4453128"/>
            <a:ext cx="3621024" cy="438912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25112" y="4491228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Calibri"/>
              </a:rPr>
              <a:t>Wake sources</a:t>
            </a:r>
            <a:endParaRPr sz="100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769864" y="44912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EXTI lines, RTC, NRST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4270248" y="4928616"/>
            <a:ext cx="362102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25112" y="4966716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Calibri"/>
              </a:rPr>
              <a:t>After wake</a:t>
            </a:r>
            <a:endParaRPr sz="100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769864" y="496671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5900"/>
                </a:solidFill>
                <a:latin typeface="Calibri"/>
              </a:rPr>
              <a:t>HSI selected — restore PLL if needed</a:t>
            </a:r>
            <a:endParaRPr sz="1000" b="0" i="0">
              <a:solidFill>
                <a:srgbClr val="E65900"/>
              </a:solidFill>
              <a:latin typeface="Calibri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4270248" y="5404104"/>
            <a:ext cx="3621024" cy="438912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25112" y="5442204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Calibri"/>
              </a:rPr>
              <a:t>Typical use</a:t>
            </a:r>
            <a:endParaRPr sz="100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769864" y="544220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Extended idle, sensor nodes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8156448" y="1097280"/>
            <a:ext cx="3749039" cy="5394960"/>
          </a:xfrm>
          <a:prstGeom prst="rect">
            <a:avLst/>
          </a:prstGeom>
          <a:solidFill>
            <a:srgbClr val="FFF5F5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156448" y="1097280"/>
            <a:ext cx="3749039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47888" y="116128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STANDBY</a:t>
            </a:r>
            <a:endParaRPr sz="15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8211312" y="1600200"/>
            <a:ext cx="3621024" cy="438912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66176" y="16383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Calibri"/>
              </a:rPr>
              <a:t>SLEEPDEEP</a:t>
            </a:r>
            <a:endParaRPr sz="1000" b="1" i="0">
              <a:solidFill>
                <a:srgbClr val="C62828"/>
              </a:solidFill>
              <a:latin typeface="Calibri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9710928" y="16383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= 1  (SCB→SCR)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8211312" y="2075688"/>
            <a:ext cx="362102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66176" y="2113788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Calibri"/>
              </a:rPr>
              <a:t>PDDS</a:t>
            </a:r>
            <a:endParaRPr sz="1000" b="1" i="0">
              <a:solidFill>
                <a:srgbClr val="C62828"/>
              </a:solidFill>
              <a:latin typeface="Calibri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9710928" y="21137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= 1  (PWR_CR)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8211312" y="2551176"/>
            <a:ext cx="3621024" cy="438912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66176" y="2589276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Calibri"/>
              </a:rPr>
              <a:t>CPU</a:t>
            </a:r>
            <a:endParaRPr sz="1000" b="1" i="0">
              <a:solidFill>
                <a:srgbClr val="C62828"/>
              </a:solidFill>
              <a:latin typeface="Calibri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710928" y="25892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Halted  (WFI or WFE)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8211312" y="3026664"/>
            <a:ext cx="362102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66176" y="3064764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Calibri"/>
              </a:rPr>
              <a:t>1.8V domain</a:t>
            </a:r>
            <a:endParaRPr sz="1000" b="1" i="0">
              <a:solidFill>
                <a:srgbClr val="C62828"/>
              </a:solidFill>
              <a:latin typeface="Calibri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9710928" y="306476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62828"/>
                </a:solidFill>
                <a:latin typeface="Calibri"/>
              </a:rPr>
              <a:t>POWERED DOWN</a:t>
            </a:r>
            <a:endParaRPr sz="1000" b="0" i="0">
              <a:solidFill>
                <a:srgbClr val="C62828"/>
              </a:solidFill>
              <a:latin typeface="Calibri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8211312" y="3502152"/>
            <a:ext cx="3621024" cy="438912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266176" y="354025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Calibri"/>
              </a:rPr>
              <a:t>SRAM</a:t>
            </a:r>
            <a:endParaRPr sz="1000" b="1" i="0">
              <a:solidFill>
                <a:srgbClr val="C62828"/>
              </a:solidFill>
              <a:latin typeface="Calibri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9710928" y="35402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62828"/>
                </a:solidFill>
                <a:latin typeface="Calibri"/>
              </a:rPr>
              <a:t>CONTENTS LOST  ✗</a:t>
            </a:r>
            <a:endParaRPr sz="1000" b="0" i="0">
              <a:solidFill>
                <a:srgbClr val="C62828"/>
              </a:solidFill>
              <a:latin typeface="Calibri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8211312" y="3977640"/>
            <a:ext cx="362102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266176" y="40157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Calibri"/>
              </a:rPr>
              <a:t>Regulator</a:t>
            </a:r>
            <a:endParaRPr sz="1000" b="1" i="0">
              <a:solidFill>
                <a:srgbClr val="C62828"/>
              </a:solidFill>
              <a:latin typeface="Calibri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9710928" y="40157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OFF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8211312" y="4453128"/>
            <a:ext cx="3621024" cy="438912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266176" y="4491228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Calibri"/>
              </a:rPr>
              <a:t>Wake sources</a:t>
            </a:r>
            <a:endParaRPr sz="1000" b="1" i="0">
              <a:solidFill>
                <a:srgbClr val="C62828"/>
              </a:solidFill>
              <a:latin typeface="Calibri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9710928" y="44912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WKUP pin, RTC, NRST, IWDG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8211312" y="4928616"/>
            <a:ext cx="362102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266176" y="4966716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Calibri"/>
              </a:rPr>
              <a:t>After wake</a:t>
            </a:r>
            <a:endParaRPr sz="1000" b="1" i="0">
              <a:solidFill>
                <a:srgbClr val="C62828"/>
              </a:solidFill>
              <a:latin typeface="Calibri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9710928" y="496671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62828"/>
                </a:solidFill>
                <a:latin typeface="Calibri"/>
              </a:rPr>
              <a:t>Reset-like restart — reinitialise all</a:t>
            </a:r>
            <a:endParaRPr sz="1000" b="0" i="0">
              <a:solidFill>
                <a:srgbClr val="C62828"/>
              </a:solidFill>
              <a:latin typeface="Calibri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8211312" y="5404104"/>
            <a:ext cx="3621024" cy="438912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266176" y="5442204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Calibri"/>
              </a:rPr>
              <a:t>Typical use</a:t>
            </a:r>
            <a:endParaRPr sz="1000" b="1" i="0">
              <a:solidFill>
                <a:srgbClr val="C62828"/>
              </a:solidFill>
              <a:latin typeface="Calibri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9710928" y="544220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  <a:latin typeface="Calibri"/>
              </a:rPr>
              <a:t>Maximum saving, RTC periodic wake</a:t>
            </a:r>
            <a:endParaRPr sz="1000" b="0" i="0">
              <a:solidFill>
                <a:srgbClr val="1A2B4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Sleep Mode</a:t>
            </a:r>
            <a:endParaRPr sz="26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7472" y="65836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8F0"/>
                </a:solidFill>
                <a:latin typeface="Calibri"/>
              </a:rPr>
              <a:t>SLEEPDEEP = 0  |  WFI / WFE  |  Low-Power Sleep Clarification</a:t>
            </a:r>
            <a:endParaRPr sz="1100" b="0" i="1">
              <a:solidFill>
                <a:srgbClr val="B0C8F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62025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A8C8"/>
                </a:solidFill>
                <a:latin typeface="Calibri"/>
              </a:rPr>
              <a:t>STM32F103C8T6  |  Low-Power Modes and Wake-Up Mechanisms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6620256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A8C8"/>
                </a:solidFill>
                <a:latin typeface="Calibri"/>
              </a:rPr>
              <a:t>9 / 19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" y="6382512"/>
            <a:ext cx="1170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667A"/>
                </a:solidFill>
                <a:latin typeface="Calibri"/>
              </a:rPr>
              <a:t>Source: RM0008 Rev. 21, §5.3.1</a:t>
            </a:r>
            <a:endParaRPr sz="800" b="0" i="1">
              <a:solidFill>
                <a:srgbClr val="55667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5349240" cy="5394960"/>
          </a:xfrm>
          <a:prstGeom prst="rect">
            <a:avLst/>
          </a:prstGeom>
          <a:solidFill>
            <a:srgbClr val="E8F0FB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7043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Sleep Mode Configuration</a:t>
            </a:r>
            <a:endParaRPr sz="130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5166360" cy="19050"/>
          </a:xfrm>
          <a:prstGeom prst="rect">
            <a:avLst/>
          </a:prstGeom>
          <a:solidFill>
            <a:srgbClr val="C5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554480"/>
            <a:ext cx="5166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0D2A4F"/>
                </a:solidFill>
                <a:latin typeface="Calibri"/>
              </a:rPr>
              <a:t>Entry condition:</a:t>
            </a:r>
            <a:endParaRPr sz="1200" b="1" i="0">
              <a:solidFill>
                <a:srgbClr val="0D2A4F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WFI or WFE executed with SCB→SCR.SLEEPDEEP = 0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0D2A4F"/>
                </a:solidFill>
                <a:latin typeface="Calibri"/>
              </a:rPr>
              <a:t>What remains ON:</a:t>
            </a:r>
            <a:endParaRPr sz="1200" b="1" i="0">
              <a:solidFill>
                <a:srgbClr val="0D2A4F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CPU core: halted — saves active power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007A8A"/>
                </a:solidFill>
                <a:latin typeface="Calibri"/>
              </a:rPr>
              <a:t>SRAM: retained  (all contents safe)</a:t>
            </a:r>
            <a:endParaRPr sz="1100" b="0" i="0">
              <a:solidFill>
                <a:srgbClr val="007A8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Peripheral clocks: all continue (SYSCLK, HCLK, PCLK1, PCLK2)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DMA, USART, Timers, ADC: continue operating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Voltage regulator: ON, normal mode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0D2A4F"/>
                </a:solidFill>
                <a:latin typeface="Calibri"/>
              </a:rPr>
              <a:t>Wake-up sources:</a:t>
            </a:r>
            <a:endParaRPr sz="1200" b="1" i="0">
              <a:solidFill>
                <a:srgbClr val="0D2A4F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Any enabled NVIC interrupt (EXTI, timer, DMA, USART, ADC…)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Any event configured in EXTI_EMR (for WFE path)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SysTick, RTC alarm, peripheral events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0D2A4F"/>
                </a:solidFill>
                <a:latin typeface="Calibri"/>
              </a:rPr>
              <a:t>Power reduction:</a:t>
            </a:r>
            <a:endParaRPr sz="1200" b="1" i="0">
              <a:solidFill>
                <a:srgbClr val="0D2A4F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Lower than Run mode — CPU core halted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Higher than Stop mode — clocks still active</a:t>
            </a:r>
            <a:endParaRPr sz="11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943600" y="1097280"/>
            <a:ext cx="5925312" cy="5394960"/>
          </a:xfrm>
          <a:prstGeom prst="rect">
            <a:avLst/>
          </a:prstGeom>
          <a:solidFill>
            <a:srgbClr val="FDF2EE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181862"/>
            <a:ext cx="566928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Calibri"/>
              </a:rPr>
              <a:t>Low-Power Sleep</a:t>
            </a:r>
            <a:endParaRPr sz="1300" b="1" i="0">
              <a:solidFill>
                <a:srgbClr val="C62828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080760" y="1463040"/>
            <a:ext cx="5715000" cy="19050"/>
          </a:xfrm>
          <a:prstGeom prst="rect">
            <a:avLst/>
          </a:prstGeom>
          <a:solidFill>
            <a:srgbClr val="C5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554480"/>
            <a:ext cx="5669280" cy="3202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0D2A4F"/>
                </a:solidFill>
                <a:latin typeface="Calibri"/>
              </a:rPr>
              <a:t>What RM0008 Rev. 21 actually defines:</a:t>
            </a:r>
            <a:endParaRPr sz="1200" b="1" i="0">
              <a:solidFill>
                <a:srgbClr val="0D2A4F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RM0008 does not define a separate 'Low-Power Sleep Mode' for STM32F103C8T6. The three official modes are Sleep, Stop, and Standby.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0D2A4F"/>
                </a:solidFill>
                <a:latin typeface="Calibri"/>
              </a:rPr>
              <a:t>The LPDS bit (Low-Power in Deepsleep):</a:t>
            </a:r>
            <a:endParaRPr sz="1200" b="1" i="0">
              <a:solidFill>
                <a:srgbClr val="0D2A4F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LPDS is bit 0 of PWR_CR. It controls the internal voltage regulator behaviour during Stop mode — not a sub-mode of Sleep. LPDS = 1 puts the regulator into low-power mode when in Stop, reducing quiescent current at the cost of slightly longer wake-up latency.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0D2A4F"/>
                </a:solidFill>
                <a:latin typeface="Calibri"/>
              </a:rPr>
              <a:t>Correct interpretation of 'Low-Power Sleep':</a:t>
            </a:r>
            <a:endParaRPr sz="1200" b="1" i="0">
              <a:solidFill>
                <a:srgbClr val="0D2A4F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• Gating unused APB peripheral clocks (RCC_APB1ENR / APB2ENR)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• Reducing SYSCLK frequency before entering Sleep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• Using SLEEPONEXIT to stay in sleep after each ISR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• Disabling the ADC and other power-hungry blocks when idle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C62828"/>
                </a:solidFill>
                <a:latin typeface="Calibri"/>
              </a:rPr>
              <a:t>.</a:t>
            </a:r>
            <a:endParaRPr sz="1100" b="0" i="0">
              <a:solidFill>
                <a:srgbClr val="C6282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Stop Mode</a:t>
            </a:r>
            <a:endParaRPr sz="26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7472" y="65836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8F0"/>
                </a:solidFill>
                <a:latin typeface="Calibri"/>
              </a:rPr>
              <a:t>SLEEPDEEP = 1, PDDS = 0  |  All Clocks Off  |  SRAM Retained</a:t>
            </a:r>
            <a:endParaRPr sz="1100" b="0" i="1">
              <a:solidFill>
                <a:srgbClr val="B0C8F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62025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A8C8"/>
                </a:solidFill>
                <a:latin typeface="Calibri"/>
              </a:rPr>
              <a:t>STM32F103C8T6  |  Low-Power Modes and Wake-Up Mechanisms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6620256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A8C8"/>
                </a:solidFill>
                <a:latin typeface="Calibri"/>
              </a:rPr>
              <a:t>10 / 19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" y="6382512"/>
            <a:ext cx="1170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667A"/>
                </a:solidFill>
                <a:latin typeface="Calibri"/>
              </a:rPr>
              <a:t>Source: RM0008 Rev. 21, §5.3.2</a:t>
            </a:r>
            <a:endParaRPr sz="800" b="0" i="1">
              <a:solidFill>
                <a:srgbClr val="55667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5349240" cy="5394960"/>
          </a:xfrm>
          <a:prstGeom prst="rect">
            <a:avLst/>
          </a:prstGeom>
          <a:solidFill>
            <a:srgbClr val="E8F0FB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7043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Stop Mode Configuration</a:t>
            </a:r>
            <a:endParaRPr sz="130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5166360" cy="19050"/>
          </a:xfrm>
          <a:prstGeom prst="rect">
            <a:avLst/>
          </a:prstGeom>
          <a:solidFill>
            <a:srgbClr val="C5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554480"/>
            <a:ext cx="5166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0D2A4F"/>
                </a:solidFill>
                <a:latin typeface="Calibri"/>
              </a:rPr>
              <a:t>Entry registers:</a:t>
            </a:r>
            <a:endParaRPr sz="1200" b="1" i="0">
              <a:solidFill>
                <a:srgbClr val="0D2A4F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SCB→SCR.SLEEPDEEP = 1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PWR_CR.PDDS = 0  (Stop, not Standby)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PWR_CR.LPDS = 0 or 1  (regulator normal or low-power)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Then execute: WFI  or  WFE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0D2A4F"/>
                </a:solidFill>
                <a:latin typeface="Calibri"/>
              </a:rPr>
              <a:t>What happens:</a:t>
            </a:r>
            <a:endParaRPr sz="1200" b="1" i="0">
              <a:solidFill>
                <a:srgbClr val="0D2A4F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HSI oscillator: STOPPED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HSE oscillator: STOPPED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PLL: STOPPED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All 1.8V domain clocks: STOPPED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007A8A"/>
                </a:solidFill>
                <a:latin typeface="Calibri"/>
              </a:rPr>
              <a:t>SRAM contents: RETAINED  ✓</a:t>
            </a:r>
            <a:endParaRPr sz="1100" b="0" i="0">
              <a:solidFill>
                <a:srgbClr val="007A8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007A8A"/>
                </a:solidFill>
                <a:latin typeface="Calibri"/>
              </a:rPr>
              <a:t>Register contents: RETAINED  ✓</a:t>
            </a:r>
            <a:endParaRPr sz="1100" b="0" i="0">
              <a:solidFill>
                <a:srgbClr val="007A8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Voltage regulator: ON (normal or low-power via LPDS)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LSE / LSI: continue if enabled (RTC domain)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0D2A4F"/>
                </a:solidFill>
                <a:latin typeface="Calibri"/>
              </a:rPr>
              <a:t>Wake-up sources:</a:t>
            </a:r>
            <a:endParaRPr sz="1200" b="1" i="0">
              <a:solidFill>
                <a:srgbClr val="0D2A4F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Any EXTI line configured in EXTI_IMR + NVIC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RTC alarm (EXTI line 17) / RTC wake-up timer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NRST pin (external reset — causes full reset)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</a:p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E65900"/>
                </a:solidFill>
                <a:latin typeface="Calibri"/>
              </a:rPr>
              <a:t>LPDS = 1 note:</a:t>
            </a:r>
            <a:endParaRPr sz="1100" b="1" i="0">
              <a:solidFill>
                <a:srgbClr val="E65900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E65900"/>
                </a:solidFill>
                <a:latin typeface="Calibri"/>
              </a:rPr>
              <a:t>Lower regulator quiescent current; wake-up latency slightly longer.</a:t>
            </a:r>
            <a:endParaRPr sz="1100" b="0" i="0">
              <a:solidFill>
                <a:srgbClr val="E65900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943600" y="1097280"/>
            <a:ext cx="5925312" cy="3474720"/>
          </a:xfrm>
          <a:prstGeom prst="rect">
            <a:avLst/>
          </a:prstGeom>
          <a:solidFill>
            <a:srgbClr val="E8F0FB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17043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A4F"/>
                </a:solidFill>
                <a:latin typeface="Calibri"/>
              </a:rPr>
              <a:t>Stop Mode — Entry / Exit Sequence</a:t>
            </a:r>
            <a:endParaRPr sz="120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080760" y="1463040"/>
            <a:ext cx="5715000" cy="19050"/>
          </a:xfrm>
          <a:prstGeom prst="rect">
            <a:avLst/>
          </a:prstGeom>
          <a:solidFill>
            <a:srgbClr val="C5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554480"/>
            <a:ext cx="5394960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1592580"/>
            <a:ext cx="5285232" cy="156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Normal operation (HSE+PLL, 72 MHz)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887968" y="1800352"/>
            <a:ext cx="164592" cy="1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263640" y="1824228"/>
            <a:ext cx="5394960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1862328"/>
            <a:ext cx="5285232" cy="156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Gate unused peripheral clocks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87968" y="2070100"/>
            <a:ext cx="164592" cy="1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63640" y="2093976"/>
            <a:ext cx="5394960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2132076"/>
            <a:ext cx="5285232" cy="156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Configure EXTI wake-up source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87968" y="2339848"/>
            <a:ext cx="164592" cy="1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263640" y="2363724"/>
            <a:ext cx="5394960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2401824"/>
            <a:ext cx="5285232" cy="156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SCB→SCR: SLEEPDEEP = 1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887968" y="2609596"/>
            <a:ext cx="164592" cy="1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263640" y="2633472"/>
            <a:ext cx="5394960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2671572"/>
            <a:ext cx="5285232" cy="156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PWR_CR: PDDS = 0 (+ optional LPDS)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887968" y="2879344"/>
            <a:ext cx="164592" cy="1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263640" y="2903220"/>
            <a:ext cx="5394960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2941320"/>
            <a:ext cx="5285232" cy="156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Clear PWR_CR.CWUF (wake-up flag)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887968" y="3149092"/>
            <a:ext cx="164592" cy="1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263640" y="3172968"/>
            <a:ext cx="5394960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7648" y="3211068"/>
            <a:ext cx="5285232" cy="156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Execute WFI  or  WFE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887968" y="3418840"/>
            <a:ext cx="164592" cy="1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263640" y="3442716"/>
            <a:ext cx="5394960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27648" y="3480816"/>
            <a:ext cx="5285232" cy="156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— All 1.8V domain clocks halt —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887968" y="3688588"/>
            <a:ext cx="164592" cy="1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263640" y="3712464"/>
            <a:ext cx="5394960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27648" y="3750564"/>
            <a:ext cx="5285232" cy="156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Wake-up event occurs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887968" y="3958336"/>
            <a:ext cx="164592" cy="1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263640" y="3982212"/>
            <a:ext cx="5394960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27648" y="4020312"/>
            <a:ext cx="5285232" cy="156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HSI auto-selected as SYSCLK (8 MHz)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887968" y="4228084"/>
            <a:ext cx="164592" cy="1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263640" y="4251960"/>
            <a:ext cx="5394960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7648" y="4290060"/>
            <a:ext cx="5285232" cy="156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Restore HSE + PLL if 72 MHz needed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887968" y="4497832"/>
            <a:ext cx="164592" cy="1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263640" y="4521708"/>
            <a:ext cx="5394960" cy="23317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27648" y="4559808"/>
            <a:ext cx="5285232" cy="156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Resume application code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5943600" y="4718304"/>
            <a:ext cx="5925312" cy="1773936"/>
          </a:xfrm>
          <a:prstGeom prst="rect">
            <a:avLst/>
          </a:prstGeom>
          <a:solidFill>
            <a:srgbClr val="FDF2EE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26480" y="479145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Calibri"/>
              </a:rPr>
              <a:t>Critical: Clock Restore After Stop Wake-Up</a:t>
            </a:r>
            <a:endParaRPr sz="1200" b="1" i="0">
              <a:solidFill>
                <a:srgbClr val="C62828"/>
              </a:solidFill>
              <a:latin typeface="Calibr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126480" y="5102352"/>
            <a:ext cx="5669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4A"/>
                </a:solidFill>
                <a:latin typeface="Calibri"/>
              </a:rPr>
              <a:t>After Stop wake-up, the system clock source automatically defaults to HSI (8 MHz). If the application requires HSE and PLL for full 72 MHz operation, firmware must: re-enable HSE → wait for HSERDY → re-enable PLL → wait for PLLRDY → switch SYSCLK to PLL. This must be coded explicitly in the wake-up path.</a:t>
            </a:r>
            <a:endParaRPr sz="1050" b="0" i="0">
              <a:solidFill>
                <a:srgbClr val="1A2B4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Standby Mode</a:t>
            </a:r>
            <a:endParaRPr sz="26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7472" y="65836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8F0"/>
                </a:solidFill>
                <a:latin typeface="Calibri"/>
              </a:rPr>
              <a:t>SLEEPDEEP = 1, PDDS = 1  |  1.8V Domain Powered Down  |  SRAM Lost</a:t>
            </a:r>
            <a:endParaRPr sz="1100" b="0" i="1">
              <a:solidFill>
                <a:srgbClr val="B0C8F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62025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A8C8"/>
                </a:solidFill>
                <a:latin typeface="Calibri"/>
              </a:rPr>
              <a:t>STM32F103C8T6  |  Low-Power Modes and Wake-Up Mechanisms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6620256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A8C8"/>
                </a:solidFill>
                <a:latin typeface="Calibri"/>
              </a:rPr>
              <a:t>11 / 19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" y="6382512"/>
            <a:ext cx="1170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667A"/>
                </a:solidFill>
                <a:latin typeface="Calibri"/>
              </a:rPr>
              <a:t>Source: RM0008 Rev. 21, §5.3.3</a:t>
            </a:r>
            <a:endParaRPr sz="800" b="0" i="1">
              <a:solidFill>
                <a:srgbClr val="55667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5349240" cy="5394960"/>
          </a:xfrm>
          <a:prstGeom prst="rect">
            <a:avLst/>
          </a:prstGeom>
          <a:solidFill>
            <a:srgbClr val="E8F0FB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7043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Calibri"/>
              </a:rPr>
              <a:t>Standby Mode Configuration</a:t>
            </a:r>
            <a:endParaRPr sz="1300" b="1" i="0">
              <a:solidFill>
                <a:srgbClr val="C62828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5166360" cy="19050"/>
          </a:xfrm>
          <a:prstGeom prst="rect">
            <a:avLst/>
          </a:prstGeom>
          <a:solidFill>
            <a:srgbClr val="C5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554480"/>
            <a:ext cx="5166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0D2A4F"/>
                </a:solidFill>
                <a:latin typeface="Calibri"/>
              </a:rPr>
              <a:t>Entry registers:</a:t>
            </a:r>
            <a:endParaRPr sz="1200" b="1" i="0">
              <a:solidFill>
                <a:srgbClr val="0D2A4F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SCB→SCR.SLEEPDEEP = 1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PWR_CR.PDDS = 1  (Standby, not Stop)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Then execute: WFI  or  WFE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0D2A4F"/>
                </a:solidFill>
                <a:latin typeface="Calibri"/>
              </a:rPr>
              <a:t>What happens:</a:t>
            </a:r>
            <a:endParaRPr sz="1200" b="1" i="0">
              <a:solidFill>
                <a:srgbClr val="0D2A4F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C62828"/>
                </a:solidFill>
                <a:latin typeface="Calibri"/>
              </a:rPr>
              <a:t>1.8V core domain: POWERED DOWN</a:t>
            </a:r>
            <a:endParaRPr sz="1100" b="0" i="0">
              <a:solidFill>
                <a:srgbClr val="C62828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C62828"/>
                </a:solidFill>
                <a:latin typeface="Calibri"/>
              </a:rPr>
              <a:t>SRAM: CONTENTS LOST  ✗</a:t>
            </a:r>
            <a:endParaRPr sz="1100" b="0" i="0">
              <a:solidFill>
                <a:srgbClr val="C62828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C62828"/>
                </a:solidFill>
                <a:latin typeface="Calibri"/>
              </a:rPr>
              <a:t>CPU registers: LOST</a:t>
            </a:r>
            <a:endParaRPr sz="1100" b="0" i="0">
              <a:solidFill>
                <a:srgbClr val="C62828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HSI, HSE, PLL: STOPPED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Voltage regulator: OFF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007A8A"/>
                </a:solidFill>
                <a:latin typeface="Calibri"/>
              </a:rPr>
              <a:t>Backup domain (VBAT): RETAINED  ✓</a:t>
            </a:r>
            <a:endParaRPr sz="1100" b="0" i="0">
              <a:solidFill>
                <a:srgbClr val="007A8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007A8A"/>
                </a:solidFill>
                <a:latin typeface="Calibri"/>
              </a:rPr>
              <a:t>RTC (if running from LSE/LSI): RETAINED  ✓</a:t>
            </a:r>
            <a:endParaRPr sz="1100" b="0" i="0">
              <a:solidFill>
                <a:srgbClr val="007A8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007A8A"/>
                </a:solidFill>
                <a:latin typeface="Calibri"/>
              </a:rPr>
              <a:t>Backup registers (BKP1R–BKP10R): RETAINED  ✓</a:t>
            </a:r>
            <a:endParaRPr sz="1100" b="0" i="0">
              <a:solidFill>
                <a:srgbClr val="007A8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0D2A4F"/>
                </a:solidFill>
                <a:latin typeface="Calibri"/>
              </a:rPr>
              <a:t>Wake-up sources (limited):</a:t>
            </a:r>
            <a:endParaRPr sz="1200" b="1" i="0">
              <a:solidFill>
                <a:srgbClr val="0D2A4F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WKUP pin (PA0, rising edge) — requires PWR_CSR.EWUP = 1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RTC alarm event (EXTI line 17)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External reset on NRST pin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IWDG reset (if IWDG was running)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0D2A4F"/>
                </a:solidFill>
                <a:latin typeface="Calibri"/>
              </a:rPr>
              <a:t>Wake-up behaviour:</a:t>
            </a:r>
            <a:endParaRPr sz="1200" b="1" i="0">
              <a:solidFill>
                <a:srgbClr val="0D2A4F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Behaves like a power-on reset. All peripherals and SRAM must be fully reinitialised. PWR_CSR.SBF flag indicates Standby was the previous state.</a:t>
            </a:r>
            <a:endParaRPr sz="11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943600" y="1097280"/>
            <a:ext cx="5925312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17043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Stop vs Standby Comparison</a:t>
            </a:r>
            <a:endParaRPr sz="130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080760" y="1463040"/>
            <a:ext cx="5715000" cy="19050"/>
          </a:xfrm>
          <a:prstGeom prst="rect">
            <a:avLst/>
          </a:prstGeom>
          <a:solidFill>
            <a:srgbClr val="C5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080760" y="1554480"/>
          <a:ext cx="57607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  <a:endParaRPr sz="11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D2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Stop Mode</a:t>
                      </a:r>
                      <a:endParaRPr sz="11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D2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Standby Mode</a:t>
                      </a:r>
                      <a:endParaRPr sz="11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D2A4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PDDS bit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= 0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= 1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1.8V core domain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ON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OFF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SRAM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7A8A"/>
                          </a:solidFill>
                          <a:latin typeface="Calibri"/>
                        </a:rPr>
                        <a:t>Retained  ✓</a:t>
                      </a:r>
                      <a:endParaRPr sz="950" b="0">
                        <a:solidFill>
                          <a:srgbClr val="007A8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LOST  ✗</a:t>
                      </a:r>
                      <a:endParaRPr sz="950" b="1">
                        <a:solidFill>
                          <a:srgbClr val="C62828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Registers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7A8A"/>
                          </a:solidFill>
                          <a:latin typeface="Calibri"/>
                        </a:rPr>
                        <a:t>Retained  ✓</a:t>
                      </a:r>
                      <a:endParaRPr sz="950" b="0">
                        <a:solidFill>
                          <a:srgbClr val="007A8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LOST  ✗</a:t>
                      </a:r>
                      <a:endParaRPr sz="950" b="1">
                        <a:solidFill>
                          <a:srgbClr val="C62828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Backup (VBAT)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Retained  ✓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Retained  ✓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RTC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Runs (VBAT domain)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Runs (VBAT domain)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Regulator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ON / low-pwr (LPDS)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OFF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EXTI wake-up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Yes  ✓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No (limited sources)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WKUP pin (PA0)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Yes  ✓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Yes (EWUP=1 required)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RTC alarm wake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Yes  ✓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Yes  ✓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NRST wake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Yes  ✓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Yes  ✓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IWDG reset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Yes  ✓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Yes  ✓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After wake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Code resumes (HSI)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Reset-like restart</a:t>
                      </a:r>
                      <a:endParaRPr sz="950" b="1">
                        <a:solidFill>
                          <a:srgbClr val="C62828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Power reduction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Very low (SRAM kept)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565C0"/>
                          </a:solidFill>
                          <a:latin typeface="Calibri"/>
                        </a:rPr>
                        <a:t>Lowest (1.8V off)</a:t>
                      </a:r>
                      <a:endParaRPr sz="950" b="1">
                        <a:solidFill>
                          <a:srgbClr val="1565C0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Low-Power Mode Comparison</a:t>
            </a:r>
            <a:endParaRPr sz="26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7472" y="65836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8F0"/>
                </a:solidFill>
                <a:latin typeface="Calibri"/>
              </a:rPr>
              <a:t>Sleep  |  Stop  |  Standby  |  RM0008 Rev. 21, Table 11, p. 72</a:t>
            </a:r>
            <a:endParaRPr sz="1100" b="0" i="1">
              <a:solidFill>
                <a:srgbClr val="B0C8F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62025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A8C8"/>
                </a:solidFill>
                <a:latin typeface="Calibri"/>
              </a:rPr>
              <a:t>STM32F103C8T6  |  Low-Power Modes and Wake-Up Mechanisms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6620256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A8C8"/>
                </a:solidFill>
                <a:latin typeface="Calibri"/>
              </a:rPr>
              <a:t>12 / 19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" y="6382512"/>
            <a:ext cx="1170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667A"/>
                </a:solidFill>
                <a:latin typeface="Calibri"/>
              </a:rPr>
              <a:t>Source: RM0008 Rev. 21, §5.3, Table 11, p. 72</a:t>
            </a:r>
            <a:endParaRPr sz="800" b="0" i="1">
              <a:solidFill>
                <a:srgbClr val="55667A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" y="1115568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67A"/>
                </a:solidFill>
                <a:latin typeface="Calibri"/>
              </a:rPr>
              <a:t>Official RM0008 Table 11 — Low-Power Mode Summary:</a:t>
            </a:r>
            <a:endParaRPr sz="1100" b="0" i="1">
              <a:solidFill>
                <a:srgbClr val="55667A"/>
              </a:solidFill>
              <a:latin typeface="Calibri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371600"/>
          <a:ext cx="11548872" cy="533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7218"/>
                <a:gridCol w="2887218"/>
                <a:gridCol w="2887218"/>
                <a:gridCol w="2887218"/>
              </a:tblGrid>
              <a:tr h="334327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  <a:endParaRPr sz="11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D2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Sleep</a:t>
                      </a:r>
                      <a:endParaRPr sz="11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D2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Stop</a:t>
                      </a:r>
                      <a:endParaRPr sz="11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D2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Standby</a:t>
                      </a:r>
                      <a:endParaRPr sz="11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D2A4F"/>
                    </a:solidFill>
                  </a:tcPr>
                </a:tc>
              </a:tr>
              <a:tr h="334327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Entry instruction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WFI  or  WFE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WFI  or  WFE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WFI  or  WFE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  <a:tr h="334327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SLEEPDEEP bit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= 0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= 1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= 1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4327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PDDS bit (PWR_CR)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N/A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= 0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= 1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  <a:tr h="334327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CPU core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Halted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Halted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Halted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4327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Peripheral clocks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All running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All stopped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All stopped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  <a:tr h="334327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HSI / HSE / PLL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Running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Stopped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Stopped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4327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SRAM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7A8A"/>
                          </a:solidFill>
                          <a:latin typeface="Calibri"/>
                        </a:rPr>
                        <a:t>Retained  ✓</a:t>
                      </a:r>
                      <a:endParaRPr sz="950" b="0">
                        <a:solidFill>
                          <a:srgbClr val="007A8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7A8A"/>
                          </a:solidFill>
                          <a:latin typeface="Calibri"/>
                        </a:rPr>
                        <a:t>Retained  ✓</a:t>
                      </a:r>
                      <a:endParaRPr sz="950" b="0">
                        <a:solidFill>
                          <a:srgbClr val="007A8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LOST  ✗</a:t>
                      </a:r>
                      <a:endParaRPr sz="950" b="1">
                        <a:solidFill>
                          <a:srgbClr val="C62828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  <a:tr h="334327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Registers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7A8A"/>
                          </a:solidFill>
                          <a:latin typeface="Calibri"/>
                        </a:rPr>
                        <a:t>Retained  ✓</a:t>
                      </a:r>
                      <a:endParaRPr sz="950" b="0">
                        <a:solidFill>
                          <a:srgbClr val="007A8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07A8A"/>
                          </a:solidFill>
                          <a:latin typeface="Calibri"/>
                        </a:rPr>
                        <a:t>Retained  ✓</a:t>
                      </a:r>
                      <a:endParaRPr sz="950" b="0">
                        <a:solidFill>
                          <a:srgbClr val="007A8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LOST  ✗</a:t>
                      </a:r>
                      <a:endParaRPr sz="950" b="1">
                        <a:solidFill>
                          <a:srgbClr val="C62828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4327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Voltage regulator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ON — normal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ON or low-power (LPDS)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OFF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  <a:tr h="334327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Backup domain (VBAT)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Retained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Retained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Retained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4327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RTC / LSE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Runs if enabled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Runs (VBAT domain)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Runs (VBAT domain)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Wake-up sources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Any IRQ / Event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EXTI, RTC, NRST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WKUP, RTC, NRST, IWDG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4327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After wake-up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Resumes from WFI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Resumes (HSI default)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Reset-like restart</a:t>
                      </a:r>
                      <a:endParaRPr sz="950" b="1">
                        <a:solidFill>
                          <a:srgbClr val="C62828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  <a:tr h="334327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Power consumption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Low (CPU halted)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Very low (clocks off)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565C0"/>
                          </a:solidFill>
                          <a:latin typeface="Calibri"/>
                        </a:rPr>
                        <a:t>Lowest consumption</a:t>
                      </a:r>
                      <a:endParaRPr sz="950" b="1">
                        <a:solidFill>
                          <a:srgbClr val="1565C0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4335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Typical use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Short idle periods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Extended idle, sensors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Max saving, RTC wake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Low-Power Control Registers</a:t>
            </a:r>
            <a:endParaRPr sz="26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7472" y="65836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8F0"/>
                </a:solidFill>
                <a:latin typeface="Calibri"/>
              </a:rPr>
              <a:t>PWR  |  RCC  |  SCB  |  EXTI  |  NVIC</a:t>
            </a:r>
            <a:endParaRPr sz="1100" b="0" i="1">
              <a:solidFill>
                <a:srgbClr val="B0C8F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62025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A8C8"/>
                </a:solidFill>
                <a:latin typeface="Calibri"/>
              </a:rPr>
              <a:t>STM32F103C8T6  |  Low-Power Modes and Wake-Up Mechanisms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6620256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A8C8"/>
                </a:solidFill>
                <a:latin typeface="Calibri"/>
              </a:rPr>
              <a:t>13 / 19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" y="6382512"/>
            <a:ext cx="1170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667A"/>
                </a:solidFill>
                <a:latin typeface="Calibri"/>
              </a:rPr>
              <a:t>Source: RM0008 Rev. 21, §5.4 (PWR), §7 (RCC), §10 (EXTI)</a:t>
            </a:r>
            <a:endParaRPr sz="800" b="0" i="1">
              <a:solidFill>
                <a:srgbClr val="55667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3749039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097280"/>
            <a:ext cx="3749039" cy="320040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133856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Power Control (PWR)</a:t>
            </a:r>
            <a:endParaRPr sz="115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0040" y="1481328"/>
            <a:ext cx="3648456" cy="493776"/>
          </a:xfrm>
          <a:prstGeom prst="rect">
            <a:avLst/>
          </a:prstGeom>
          <a:solidFill>
            <a:srgbClr val="EFF4FD"/>
          </a:solidFill>
          <a:ln w="381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506728"/>
            <a:ext cx="1417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A4F"/>
                </a:solidFill>
                <a:latin typeface="Calibri"/>
              </a:rPr>
              <a:t>PWR_CR</a:t>
            </a:r>
            <a:endParaRPr sz="100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1506728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Power control — PDDS, LPDS,
CWUF, CSBF, PVDE, DBP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0040" y="2011680"/>
            <a:ext cx="3648456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037080"/>
            <a:ext cx="1417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A4F"/>
                </a:solidFill>
                <a:latin typeface="Calibri"/>
              </a:rPr>
              <a:t>PWR_CSR</a:t>
            </a:r>
            <a:endParaRPr sz="100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28800" y="2037080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Status/ctrl — EWUP (WKUP),
WUF, SBF, PVDO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20040" y="2542032"/>
            <a:ext cx="3648456" cy="493776"/>
          </a:xfrm>
          <a:prstGeom prst="rect">
            <a:avLst/>
          </a:prstGeom>
          <a:solidFill>
            <a:srgbClr val="EFF4FD"/>
          </a:solidFill>
          <a:ln w="381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567432"/>
            <a:ext cx="1417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A4F"/>
                </a:solidFill>
                <a:latin typeface="Calibri"/>
              </a:rPr>
              <a:t>RCC_CR</a:t>
            </a:r>
            <a:endParaRPr sz="100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28800" y="2567432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Clock ctrl — HSION, HSEON,
PLLON, HSIRDY, HSERDY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0040" y="3072384"/>
            <a:ext cx="3648456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097784"/>
            <a:ext cx="1417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A4F"/>
                </a:solidFill>
                <a:latin typeface="Calibri"/>
              </a:rPr>
              <a:t>RCC_CFGR</a:t>
            </a:r>
            <a:endParaRPr sz="100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828800" y="3097784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Clock config — SW[1:0], SWS,
HPRE, PPRE1/2, PLLSRC/MUL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20040" y="3602736"/>
            <a:ext cx="3648456" cy="493776"/>
          </a:xfrm>
          <a:prstGeom prst="rect">
            <a:avLst/>
          </a:prstGeom>
          <a:solidFill>
            <a:srgbClr val="EFF4FD"/>
          </a:solidFill>
          <a:ln w="381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628136"/>
            <a:ext cx="1417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A4F"/>
                </a:solidFill>
                <a:latin typeface="Calibri"/>
              </a:rPr>
              <a:t>RCC_APB1ENR</a:t>
            </a:r>
            <a:endParaRPr sz="100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828800" y="3628136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APB1 clock enables — TIM2–4,
USART2/3, SPI2, I2C, USB, CAN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20040" y="4133088"/>
            <a:ext cx="3648456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158488"/>
            <a:ext cx="1417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A4F"/>
                </a:solidFill>
                <a:latin typeface="Calibri"/>
              </a:rPr>
              <a:t>RCC_APB2ENR</a:t>
            </a:r>
            <a:endParaRPr sz="100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828800" y="4158488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APB2 clock enables — GPIOA–E,
USART1, SPI1, ADC1/2, TIM1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20040" y="4663440"/>
            <a:ext cx="3648456" cy="493776"/>
          </a:xfrm>
          <a:prstGeom prst="rect">
            <a:avLst/>
          </a:prstGeom>
          <a:solidFill>
            <a:srgbClr val="EFF4FD"/>
          </a:solidFill>
          <a:ln w="381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688840"/>
            <a:ext cx="1417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A4F"/>
                </a:solidFill>
                <a:latin typeface="Calibri"/>
              </a:rPr>
              <a:t>RCC_BDCR</a:t>
            </a:r>
            <a:endParaRPr sz="100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828800" y="4688840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Backup domain — LSEON, LSERDY,
RTCSEL, RTCEN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20040" y="5193792"/>
            <a:ext cx="3648456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219192"/>
            <a:ext cx="1417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A4F"/>
                </a:solidFill>
                <a:latin typeface="Calibri"/>
              </a:rPr>
              <a:t>RCC_CSR</a:t>
            </a:r>
            <a:endParaRPr sz="100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828800" y="5219192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Status — LSION, LSIRDY,
reset source flags (PORRSTF…)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215384" y="1097280"/>
            <a:ext cx="3749039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15384" y="1097280"/>
            <a:ext cx="3749039" cy="3200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06824" y="1133856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Cortex-M3 SCB + EXTI</a:t>
            </a:r>
            <a:endParaRPr sz="115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261104" y="1481328"/>
            <a:ext cx="3648456" cy="493776"/>
          </a:xfrm>
          <a:prstGeom prst="rect">
            <a:avLst/>
          </a:prstGeom>
          <a:solidFill>
            <a:srgbClr val="EFF4FD"/>
          </a:solidFill>
          <a:ln w="381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06824" y="1506728"/>
            <a:ext cx="1417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Calibri"/>
              </a:rPr>
              <a:t>SCB→SCR</a:t>
            </a:r>
            <a:endParaRPr sz="100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769864" y="1506728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Sleep ctrl — SLEEPDEEP,
SLEEPONEXIT, SEVONPEND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261104" y="2011680"/>
            <a:ext cx="3648456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06824" y="2037080"/>
            <a:ext cx="1417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Calibri"/>
              </a:rPr>
              <a:t>SCB→ICSR</a:t>
            </a:r>
            <a:endParaRPr sz="100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769864" y="2037080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Pending/active IRQ state,
NMI/SysTick pending bits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261104" y="2542032"/>
            <a:ext cx="3648456" cy="493776"/>
          </a:xfrm>
          <a:prstGeom prst="rect">
            <a:avLst/>
          </a:prstGeom>
          <a:solidFill>
            <a:srgbClr val="EFF4FD"/>
          </a:solidFill>
          <a:ln w="381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06824" y="2567432"/>
            <a:ext cx="1417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Calibri"/>
              </a:rPr>
              <a:t>EXTI_IMR</a:t>
            </a:r>
            <a:endParaRPr sz="100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769864" y="2567432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Interrupt mask — bit n=1
enables IRQ on line n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261104" y="3072384"/>
            <a:ext cx="3648456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06824" y="3097784"/>
            <a:ext cx="1417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Calibri"/>
              </a:rPr>
              <a:t>EXTI_EMR</a:t>
            </a:r>
            <a:endParaRPr sz="100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769864" y="3097784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Event mask — bit n=1
enables event on line n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261104" y="3602736"/>
            <a:ext cx="3648456" cy="493776"/>
          </a:xfrm>
          <a:prstGeom prst="rect">
            <a:avLst/>
          </a:prstGeom>
          <a:solidFill>
            <a:srgbClr val="EFF4FD"/>
          </a:solidFill>
          <a:ln w="381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06824" y="3628136"/>
            <a:ext cx="1417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Calibri"/>
              </a:rPr>
              <a:t>EXTI_RTSR</a:t>
            </a:r>
            <a:endParaRPr sz="100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769864" y="3628136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Rising trigger select —
rising edge on EXTI line n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261104" y="4133088"/>
            <a:ext cx="3648456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06824" y="4158488"/>
            <a:ext cx="1417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Calibri"/>
              </a:rPr>
              <a:t>EXTI_FTSR</a:t>
            </a:r>
            <a:endParaRPr sz="100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769864" y="4158488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Falling trigger select —
falling edge on EXTI line n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261104" y="4663440"/>
            <a:ext cx="3648456" cy="493776"/>
          </a:xfrm>
          <a:prstGeom prst="rect">
            <a:avLst/>
          </a:prstGeom>
          <a:solidFill>
            <a:srgbClr val="EFF4FD"/>
          </a:solidFill>
          <a:ln w="381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06824" y="4688840"/>
            <a:ext cx="1417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Calibri"/>
              </a:rPr>
              <a:t>EXTI_SWIER</a:t>
            </a:r>
            <a:endParaRPr sz="100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769864" y="4688840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Software trigger —
force EXTI event via software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4261104" y="5193792"/>
            <a:ext cx="3648456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06824" y="5219192"/>
            <a:ext cx="1417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Calibri"/>
              </a:rPr>
              <a:t>EXTI_PR</a:t>
            </a:r>
            <a:endParaRPr sz="100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769864" y="5219192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Pending register —
clear by writing 1 to bit n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156448" y="1097280"/>
            <a:ext cx="3749039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56448" y="1097280"/>
            <a:ext cx="3749039" cy="32004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47888" y="1133856"/>
            <a:ext cx="3566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NVIC + AFIO</a:t>
            </a:r>
            <a:endParaRPr sz="115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8202168" y="1481328"/>
            <a:ext cx="3648456" cy="493776"/>
          </a:xfrm>
          <a:prstGeom prst="rect">
            <a:avLst/>
          </a:prstGeom>
          <a:solidFill>
            <a:srgbClr val="EFF4FD"/>
          </a:solidFill>
          <a:ln w="381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47888" y="1506728"/>
            <a:ext cx="1417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A"/>
                </a:solidFill>
                <a:latin typeface="Calibri"/>
              </a:rPr>
              <a:t>NVIC_ISER</a:t>
            </a:r>
            <a:endParaRPr sz="100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710928" y="1506728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Set-enable — write 1 to bit n
to enable IRQ n in NVIC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8202168" y="2011680"/>
            <a:ext cx="3648456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47888" y="2037080"/>
            <a:ext cx="1417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A"/>
                </a:solidFill>
                <a:latin typeface="Calibri"/>
              </a:rPr>
              <a:t>NVIC_ICER</a:t>
            </a:r>
            <a:endParaRPr sz="100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710928" y="2037080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Clear-enable — write 1 to bit n
to disable IRQ n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8202168" y="2542032"/>
            <a:ext cx="3648456" cy="493776"/>
          </a:xfrm>
          <a:prstGeom prst="rect">
            <a:avLst/>
          </a:prstGeom>
          <a:solidFill>
            <a:srgbClr val="EFF4FD"/>
          </a:solidFill>
          <a:ln w="381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47888" y="2567432"/>
            <a:ext cx="1417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A"/>
                </a:solidFill>
                <a:latin typeface="Calibri"/>
              </a:rPr>
              <a:t>NVIC_ISPR</a:t>
            </a:r>
            <a:endParaRPr sz="100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9710928" y="2567432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Set-pending — force IRQ n
into pending state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8202168" y="3072384"/>
            <a:ext cx="3648456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47888" y="3097784"/>
            <a:ext cx="1417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A"/>
                </a:solidFill>
                <a:latin typeface="Calibri"/>
              </a:rPr>
              <a:t>NVIC_ICPR</a:t>
            </a:r>
            <a:endParaRPr sz="100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9710928" y="3097784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Clear-pending — remove IRQ n
from pending state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8202168" y="3602736"/>
            <a:ext cx="3648456" cy="493776"/>
          </a:xfrm>
          <a:prstGeom prst="rect">
            <a:avLst/>
          </a:prstGeom>
          <a:solidFill>
            <a:srgbClr val="EFF4FD"/>
          </a:solidFill>
          <a:ln w="381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247888" y="3628136"/>
            <a:ext cx="1417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A"/>
                </a:solidFill>
                <a:latin typeface="Calibri"/>
              </a:rPr>
              <a:t>NVIC_IABR</a:t>
            </a:r>
            <a:endParaRPr sz="100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710928" y="3628136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Active-bit register —
read-only, which IRQs are active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8202168" y="4133088"/>
            <a:ext cx="3648456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47888" y="4158488"/>
            <a:ext cx="1417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A"/>
                </a:solidFill>
                <a:latin typeface="Calibri"/>
              </a:rPr>
              <a:t>NVIC_IPRn</a:t>
            </a:r>
            <a:endParaRPr sz="100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9710928" y="4158488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Priority — 4-bit field per IRQ
(bits [7:4], 0=highest, 15=lowest)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8202168" y="4663440"/>
            <a:ext cx="3648456" cy="493776"/>
          </a:xfrm>
          <a:prstGeom prst="rect">
            <a:avLst/>
          </a:prstGeom>
          <a:solidFill>
            <a:srgbClr val="EFF4FD"/>
          </a:solidFill>
          <a:ln w="381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247888" y="4688840"/>
            <a:ext cx="1417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A"/>
                </a:solidFill>
                <a:latin typeface="Calibri"/>
              </a:rPr>
              <a:t>AFIO_EXTIR</a:t>
            </a:r>
            <a:endParaRPr sz="100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9710928" y="4688840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EXTI source select — 4 bits/line
(chooses GPIO port for EXTI 0–15)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8202168" y="5193792"/>
            <a:ext cx="3648456" cy="493776"/>
          </a:xfrm>
          <a:prstGeom prst="rect">
            <a:avLst/>
          </a:prstGeom>
          <a:solidFill>
            <a:srgbClr val="FFFFFF"/>
          </a:solidFill>
          <a:ln w="3810"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247888" y="5219192"/>
            <a:ext cx="1417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A"/>
                </a:solidFill>
                <a:latin typeface="Calibri"/>
              </a:rPr>
              <a:t>SCB→VTOR</a:t>
            </a:r>
            <a:endParaRPr sz="100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9710928" y="5219192"/>
            <a:ext cx="21031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Vector table offset —
IRQ handler base address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Important Register Bits</a:t>
            </a:r>
            <a:endParaRPr sz="26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7472" y="65836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8F0"/>
                </a:solidFill>
                <a:latin typeface="Calibri"/>
              </a:rPr>
              <a:t>PWR_CR  |  PWR_CSR  |  SCB→SCR  |  EXTI</a:t>
            </a:r>
            <a:endParaRPr sz="1100" b="0" i="1">
              <a:solidFill>
                <a:srgbClr val="B0C8F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62025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A8C8"/>
                </a:solidFill>
                <a:latin typeface="Calibri"/>
              </a:rPr>
              <a:t>STM32F103C8T6  |  Low-Power Modes and Wake-Up Mechanisms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6620256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A8C8"/>
                </a:solidFill>
                <a:latin typeface="Calibri"/>
              </a:rPr>
              <a:t>14 / 19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0040" y="111556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A4F"/>
                </a:solidFill>
                <a:latin typeface="Calibri"/>
              </a:rPr>
              <a:t>PWR_CR — Power Control Register</a:t>
            </a:r>
            <a:endParaRPr sz="1200" b="1" i="0">
              <a:solidFill>
                <a:srgbClr val="0D2A4F"/>
              </a:solidFill>
              <a:latin typeface="Calibri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27025" y="1330960"/>
          <a:ext cx="5668645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9715"/>
                <a:gridCol w="1530350"/>
                <a:gridCol w="2608580"/>
              </a:tblGrid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Bit</a:t>
                      </a:r>
                      <a:endParaRPr sz="10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D2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  <a:endParaRPr sz="10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D2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  <a:endParaRPr sz="10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D2A4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Bit 0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LPDS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Regulator low-power in Deepsleep: 1 = low-power mode in Stop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Bit 1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PDDS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Power-down Deepsleep: 0 = Stop mode; 1 = Standby mode on WFI/WFE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Bit 2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CWUF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Clear wake-up flag: write 1 to clear WUF bit in PWR_CSR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Bit 3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CSBF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Clear standby flag: write 1 to clear SBF bit in PWR_CSR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Bit 4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PVDE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Programmable voltage detector enable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Bit 7:5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PLS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PVD level: 000=2.2V, 001=2.3V … 111=2.9V threshold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Bit 8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DBP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Disable backup write protection: 1 = enables write to RTC &amp; BKP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47345" y="4090670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A4F"/>
                </a:solidFill>
                <a:latin typeface="Calibri"/>
              </a:rPr>
              <a:t>PWR_CSR — Power Control/Status Register</a:t>
            </a:r>
            <a:endParaRPr sz="1200" b="1" i="0">
              <a:solidFill>
                <a:srgbClr val="0D2A4F"/>
              </a:solidFill>
              <a:latin typeface="Calibri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359148"/>
          <a:ext cx="566928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3327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Bit</a:t>
                      </a:r>
                      <a:endParaRPr sz="10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D2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  <a:endParaRPr sz="10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D2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  <a:endParaRPr sz="10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D2A4F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Bit 0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WUF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Wake-up flag: set when WKUP pin is high or RTC event occurs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Bit 1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SBF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Standby flag: set when device was previously in Standby mode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2841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Bit 2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PVDO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PVD output: 1 = VDD is below the selected PVD threshold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  <a:tr h="33284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Bit 8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EWUP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Enable WKUP pin PA0 as Standby wake-up source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172200" y="111556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A4F"/>
                </a:solidFill>
                <a:latin typeface="Calibri"/>
              </a:rPr>
              <a:t>SCB→SCR  and  EXTI Key Bits</a:t>
            </a:r>
            <a:endParaRPr sz="1200" b="1" i="0">
              <a:solidFill>
                <a:srgbClr val="0D2A4F"/>
              </a:solidFill>
              <a:latin typeface="Calibri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72200" y="1389888"/>
          <a:ext cx="5669280" cy="455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413973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Register</a:t>
                      </a:r>
                      <a:endParaRPr sz="10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D2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Bit / Field</a:t>
                      </a:r>
                      <a:endParaRPr sz="10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D2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  <a:endParaRPr sz="105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D2A4F"/>
                    </a:solidFill>
                  </a:tcPr>
                </a:tc>
              </a:tr>
              <a:tr h="413973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SCB→SCR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SLEEPDEEP [2]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0 = Sleep on WFI;  1 = Stop or Standby on WFI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  <a:tr h="413973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SCB→SCR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SLEEPONEXIT [1]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Sleep on return from ISR (stay in sleep loop)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3973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SCB→SCR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SEVONPEND [4]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Pending IRQ (even if masked) acts as WFE event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  <a:tr h="413973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EXTI_IMR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MR[n]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1 = interrupt from EXTI line n is unmasked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3973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EXTI_EMR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MR[n]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1 = event from EXTI line n is unmasked (for WFE)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  <a:tr h="413973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EXTI_RTSR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TR[n]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1 = rising edge on EXTI line n triggers event/IRQ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3973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EXTI_FTSR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TR[n]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1 = falling edge on EXTI line n triggers event/IRQ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  <a:tr h="413973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EXTI_PR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PR[n]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Pending flag for line n;  clear by writing 1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3973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NVIC_ISER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SETENA[n]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Write 1 to bit n to enable IRQ n in the NVIC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  <a:tr h="413982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A2B4A"/>
                          </a:solidFill>
                          <a:latin typeface="Calibri"/>
                        </a:rPr>
                        <a:t>NVIC_IPRn</a:t>
                      </a:r>
                      <a:endParaRPr sz="95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IP[n] [7:4]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2B4A"/>
                          </a:solidFill>
                          <a:latin typeface="Calibri"/>
                        </a:rPr>
                        <a:t>4-bit priority for IRQ n (0 = highest; 15 = lowest)</a:t>
                      </a:r>
                      <a:endParaRPr sz="95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WFI vs WFE — Wait For Interrupt / Event</a:t>
            </a:r>
            <a:endParaRPr sz="26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7472" y="65836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8F0"/>
                </a:solidFill>
                <a:latin typeface="Calibri"/>
              </a:rPr>
              <a:t>ARM Cortex-M3 Sleep-Entry Instructions</a:t>
            </a:r>
            <a:endParaRPr sz="1100" b="0" i="1">
              <a:solidFill>
                <a:srgbClr val="B0C8F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62025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A8C8"/>
                </a:solidFill>
                <a:latin typeface="Calibri"/>
              </a:rPr>
              <a:t>STM32F103C8T6  |  Low-Power Modes and Wake-Up Mechanisms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6620256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A8C8"/>
                </a:solidFill>
                <a:latin typeface="Calibri"/>
              </a:rPr>
              <a:t>15 / 19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" y="6382512"/>
            <a:ext cx="1170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667A"/>
                </a:solidFill>
                <a:latin typeface="Calibri"/>
              </a:rPr>
              <a:t>Source: ARM DDI 0337; RM0008 Rev. 21, §5.3</a:t>
            </a:r>
            <a:endParaRPr sz="800" b="0" i="1">
              <a:solidFill>
                <a:srgbClr val="55667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5577840" cy="5394960"/>
          </a:xfrm>
          <a:prstGeom prst="rect">
            <a:avLst/>
          </a:prstGeom>
          <a:solidFill>
            <a:srgbClr val="E8F0FB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70432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A4F"/>
                </a:solidFill>
                <a:latin typeface="Calibri"/>
              </a:rPr>
              <a:t>WFI  —  Wait For Interrupt</a:t>
            </a:r>
            <a:endParaRPr sz="150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1499616"/>
            <a:ext cx="5367528" cy="19050"/>
          </a:xfrm>
          <a:prstGeom prst="rect">
            <a:avLst/>
          </a:prstGeom>
          <a:solidFill>
            <a:srgbClr val="C5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591056"/>
            <a:ext cx="5349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0D2A4F"/>
                </a:solidFill>
                <a:latin typeface="Calibri"/>
              </a:rPr>
              <a:t>Mechanism:</a:t>
            </a:r>
            <a:endParaRPr sz="1200" b="1" i="0">
              <a:solidFill>
                <a:srgbClr val="0D2A4F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The CPU halts and enters a low-power state. Execution resumes when a pending interrupt is present and is enabled in the NVIC.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0D2A4F"/>
                </a:solidFill>
                <a:latin typeface="Calibri"/>
              </a:rPr>
              <a:t>Configuration steps:</a:t>
            </a:r>
            <a:endParaRPr sz="1200" b="1" i="0">
              <a:solidFill>
                <a:srgbClr val="0D2A4F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1.  Configure the interrupt source (e.g. EXTI, TIM, USART)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2.  Enable the IRQ in NVIC_ISER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3.  Execute __WFI()  (or  __asm("WFI"))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4.  Interrupt fires → CPU wakes and ISR executes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0D2A4F"/>
                </a:solidFill>
                <a:latin typeface="Calibri"/>
              </a:rPr>
              <a:t>Key properties:</a:t>
            </a:r>
            <a:endParaRPr sz="1200" b="1" i="0">
              <a:solidFill>
                <a:srgbClr val="0D2A4F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Interrupt-driven — ISR always runs on wake-up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Works in Sleep, Stop, and Standby modes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PRIMASK = 1 can prevent ISR but wake still occurs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FAULTMASK blocks all exceptions except NMI and reset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Most common mechanism for low-power embedded systems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0D2A4F"/>
                </a:solidFill>
                <a:latin typeface="Calibri"/>
              </a:rPr>
              <a:t>CMSIS intrinsic:</a:t>
            </a:r>
            <a:endParaRPr sz="1200" b="1" i="0">
              <a:solidFill>
                <a:srgbClr val="0D2A4F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55667A"/>
                </a:solidFill>
                <a:latin typeface="Calibri"/>
              </a:rPr>
              <a:t>__WFI();</a:t>
            </a:r>
            <a:endParaRPr sz="1100" b="0" i="0">
              <a:solidFill>
                <a:srgbClr val="55667A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72200" y="1097280"/>
            <a:ext cx="5696712" cy="5394960"/>
          </a:xfrm>
          <a:prstGeom prst="rect">
            <a:avLst/>
          </a:prstGeom>
          <a:solidFill>
            <a:srgbClr val="E4F4F2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17043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A8A"/>
                </a:solidFill>
                <a:latin typeface="Calibri"/>
              </a:rPr>
              <a:t>WFE  —  Wait For Event</a:t>
            </a:r>
            <a:endParaRPr sz="150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309360" y="1499616"/>
            <a:ext cx="5468112" cy="19050"/>
          </a:xfrm>
          <a:prstGeom prst="rect">
            <a:avLst/>
          </a:prstGeom>
          <a:solidFill>
            <a:srgbClr val="C5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591056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0D2A4F"/>
                </a:solidFill>
                <a:latin typeface="Calibri"/>
              </a:rPr>
              <a:t>Mechanism (ARMv7-M Architecture):</a:t>
            </a:r>
            <a:endParaRPr sz="1200" b="1" i="0">
              <a:solidFill>
                <a:srgbClr val="0D2A4F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The CPU checks its internal single-bit Event Register. If the Event Register is set (1), WFE clears it to 0 and executes immediately without sleeping. If the Event Register is 0, WFE suspends CPU execution until an event occurs.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0D2A4F"/>
                </a:solidFill>
                <a:latin typeface="Calibri"/>
              </a:rPr>
              <a:t>Event sources:</a:t>
            </a:r>
            <a:endParaRPr sz="1200" b="1" i="0">
              <a:solidFill>
                <a:srgbClr val="0D2A4F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SEV instruction executed by processor or debug subsystem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EXTI line configured as event mode in EXTI_EMR (not EXTI_IMR)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Any enabled NVIC interrupt when SCB→SCR.SEVONPEND = 1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0D2A4F"/>
                </a:solidFill>
                <a:latin typeface="Calibri"/>
              </a:rPr>
              <a:t>Key distinctions from WFI:</a:t>
            </a:r>
            <a:endParaRPr sz="1200" b="1" i="0">
              <a:solidFill>
                <a:srgbClr val="0D2A4F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Event wake-up does NOT require an ISR to execute (processor resumes directly)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Eliminates interrupt stacking/unstacking latency (zero ISR overhead)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If woken by EXTI event (EMR unmasked, IMR masked), no ISR is called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If woken with PRIMASK = 1, WFE resumes without taking interrupt handlers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Widely used in low-latency event polling and RTOS idle loops</a:t>
            </a:r>
            <a:endParaRPr sz="1100" b="0" i="0">
              <a:solidFill>
                <a:srgbClr val="1A2B4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0D2A4F"/>
                </a:solidFill>
                <a:latin typeface="Calibri"/>
              </a:rPr>
              <a:t>CMSIS intrinsic:</a:t>
            </a:r>
            <a:endParaRPr sz="1200" b="1" i="0">
              <a:solidFill>
                <a:srgbClr val="0D2A4F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55667A"/>
                </a:solidFill>
                <a:latin typeface="Calibri"/>
              </a:rPr>
              <a:t>__WFE();   // Wait For Event</a:t>
            </a:r>
            <a:endParaRPr sz="1100" b="0" i="0">
              <a:solidFill>
                <a:srgbClr val="55667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55667A"/>
                </a:solidFill>
                <a:latin typeface="Calibri"/>
              </a:rPr>
              <a:t>// Recommended pattern to clear pre-existing event latch before sleep:</a:t>
            </a:r>
            <a:endParaRPr sz="1000" b="0" i="0">
              <a:solidFill>
                <a:srgbClr val="55667A"/>
              </a:solidFill>
              <a:latin typeface="Calibri"/>
            </a:endParaRP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55667A"/>
                </a:solidFill>
                <a:latin typeface="Calibri"/>
              </a:rPr>
              <a:t>__SEV();  __WFE();  __WFE();</a:t>
            </a:r>
            <a:endParaRPr sz="1100" b="0" i="0">
              <a:solidFill>
                <a:srgbClr val="55667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Interrupt and Wake-Up Mechanisms</a:t>
            </a:r>
            <a:endParaRPr sz="26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7472" y="65836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8F0"/>
                </a:solidFill>
                <a:latin typeface="Calibri"/>
              </a:rPr>
              <a:t>EXTI  |  GPIO Events  |  RTC  |  WKUP Pin  |  NRST  |  IWDG</a:t>
            </a:r>
            <a:endParaRPr sz="1100" b="0" i="1">
              <a:solidFill>
                <a:srgbClr val="B0C8F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62025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A8C8"/>
                </a:solidFill>
                <a:latin typeface="Calibri"/>
              </a:rPr>
              <a:t>STM32F103C8T6  |  Low-Power Modes and Wake-Up Mechanisms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6620256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A8C8"/>
                </a:solidFill>
                <a:latin typeface="Calibri"/>
              </a:rPr>
              <a:t>16 / 19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" y="6382512"/>
            <a:ext cx="1170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667A"/>
                </a:solidFill>
                <a:latin typeface="Calibri"/>
              </a:rPr>
              <a:t>Source: RM0008 Rev. 21, §5.3, §10 (EXTI), §18 (RTC)</a:t>
            </a:r>
            <a:endParaRPr sz="800" b="0" i="1">
              <a:solidFill>
                <a:srgbClr val="55667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3749039" cy="2560320"/>
          </a:xfrm>
          <a:prstGeom prst="rect">
            <a:avLst/>
          </a:prstGeom>
          <a:solidFill>
            <a:srgbClr val="E8F0FB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7043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A4F"/>
                </a:solidFill>
                <a:latin typeface="Calibri"/>
              </a:rPr>
              <a:t>IRQ Wake-Up Path (WFI)</a:t>
            </a:r>
            <a:endParaRPr sz="120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3538728" cy="19050"/>
          </a:xfrm>
          <a:prstGeom prst="rect">
            <a:avLst/>
          </a:prstGeom>
          <a:solidFill>
            <a:srgbClr val="C5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554480"/>
            <a:ext cx="324612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1592580"/>
            <a:ext cx="3136392" cy="143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GPIO Pin  (PAx–PEx)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98548" y="1786636"/>
            <a:ext cx="164592" cy="1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1810512"/>
            <a:ext cx="324612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848612"/>
            <a:ext cx="3136392" cy="143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AFIO_EXTICRx  (port→line)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98548" y="2042668"/>
            <a:ext cx="164592" cy="1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2066544"/>
            <a:ext cx="324612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2104644"/>
            <a:ext cx="3136392" cy="143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EXTI_RTSR/FTSR  (edge)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98548" y="2298700"/>
            <a:ext cx="164592" cy="1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48640" y="2322576"/>
            <a:ext cx="324612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2360676"/>
            <a:ext cx="3136392" cy="143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EXTI_IMR  (unmask IRQ)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098548" y="2554732"/>
            <a:ext cx="164592" cy="1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2578608"/>
            <a:ext cx="324612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2616708"/>
            <a:ext cx="3136392" cy="143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NVIC_ISER  (enable)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098548" y="2810764"/>
            <a:ext cx="164592" cy="1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2834640"/>
            <a:ext cx="324612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2872740"/>
            <a:ext cx="3136392" cy="143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CPU: WFI  →  edge detected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098548" y="3066796"/>
            <a:ext cx="164592" cy="11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48640" y="3090672"/>
            <a:ext cx="324612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3128772"/>
            <a:ext cx="3136392" cy="143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EXTI pending  →  NVIC  →  ISR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251960" y="1097280"/>
            <a:ext cx="3749039" cy="2560320"/>
          </a:xfrm>
          <a:prstGeom prst="rect">
            <a:avLst/>
          </a:prstGeom>
          <a:solidFill>
            <a:srgbClr val="E4F4F2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117043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8A"/>
                </a:solidFill>
                <a:latin typeface="Calibri"/>
              </a:rPr>
              <a:t>Event Wake-Up Path (WFE)</a:t>
            </a:r>
            <a:endParaRPr sz="120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389120" y="1463040"/>
            <a:ext cx="3538728" cy="19050"/>
          </a:xfrm>
          <a:prstGeom prst="rect">
            <a:avLst/>
          </a:prstGeom>
          <a:solidFill>
            <a:srgbClr val="C5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80560" y="1554480"/>
            <a:ext cx="32461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44568" y="1592580"/>
            <a:ext cx="3136392" cy="179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Event source  (EXTI / SEV)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30468" y="1823212"/>
            <a:ext cx="164592" cy="29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480560" y="1865376"/>
            <a:ext cx="32461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44568" y="1903476"/>
            <a:ext cx="3136392" cy="179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EXTI_EMR  (unmask event)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030468" y="2134108"/>
            <a:ext cx="164592" cy="29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480560" y="2176272"/>
            <a:ext cx="32461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44568" y="2214372"/>
            <a:ext cx="3136392" cy="179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CPU: WFE  (sleeping)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030468" y="2445004"/>
            <a:ext cx="164592" cy="29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480560" y="2487168"/>
            <a:ext cx="32461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44568" y="2525268"/>
            <a:ext cx="3136392" cy="179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Event signal arrives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030468" y="2755900"/>
            <a:ext cx="164592" cy="29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480560" y="2798064"/>
            <a:ext cx="32461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44568" y="2836164"/>
            <a:ext cx="3136392" cy="179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Event latch cleared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030468" y="3066796"/>
            <a:ext cx="164592" cy="29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565C0"/>
                </a:solidFill>
                <a:latin typeface="Calibri"/>
              </a:rPr>
              <a:t>▼</a:t>
            </a:r>
            <a:endParaRPr sz="900" b="0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480560" y="3108960"/>
            <a:ext cx="32461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44568" y="3147060"/>
            <a:ext cx="3136392" cy="179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2B4A"/>
                </a:solidFill>
                <a:latin typeface="Calibri"/>
              </a:rPr>
              <a:t>CPU resumes  (no ISR required)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8229600" y="1097280"/>
            <a:ext cx="36576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80" y="117043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A4F"/>
                </a:solidFill>
                <a:latin typeface="Calibri"/>
              </a:rPr>
              <a:t>Sources by Mode</a:t>
            </a:r>
            <a:endParaRPr sz="120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8366760" y="1463040"/>
            <a:ext cx="3447288" cy="19050"/>
          </a:xfrm>
          <a:prstGeom prst="rect">
            <a:avLst/>
          </a:prstGeom>
          <a:solidFill>
            <a:srgbClr val="C5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8275320" y="1554480"/>
          <a:ext cx="3547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6968"/>
                <a:gridCol w="886968"/>
                <a:gridCol w="886968"/>
                <a:gridCol w="886968"/>
              </a:tblGrid>
              <a:tr h="24574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  <a:endParaRPr sz="10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D2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Sleep</a:t>
                      </a:r>
                      <a:endParaRPr sz="10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D2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Stop</a:t>
                      </a:r>
                      <a:endParaRPr sz="10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D2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Standby</a:t>
                      </a:r>
                      <a:endParaRPr sz="10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D2A4F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2B4A"/>
                          </a:solidFill>
                          <a:latin typeface="Calibri"/>
                        </a:rPr>
                        <a:t>Any IRQ</a:t>
                      </a:r>
                      <a:endParaRPr sz="90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✓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EXTI only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✗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2B4A"/>
                          </a:solidFill>
                          <a:latin typeface="Calibri"/>
                        </a:rPr>
                        <a:t>EXTI GPIO</a:t>
                      </a:r>
                      <a:endParaRPr sz="90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✓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✓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✗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2B4A"/>
                          </a:solidFill>
                          <a:latin typeface="Calibri"/>
                        </a:rPr>
                        <a:t>RTC alarm</a:t>
                      </a:r>
                      <a:endParaRPr sz="90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✓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✓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✓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2B4A"/>
                          </a:solidFill>
                          <a:latin typeface="Calibri"/>
                        </a:rPr>
                        <a:t>WKUP (PA0)</a:t>
                      </a:r>
                      <a:endParaRPr sz="90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✓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✓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✓ (EWUP=1)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2B4A"/>
                          </a:solidFill>
                          <a:latin typeface="Calibri"/>
                        </a:rPr>
                        <a:t>NRST</a:t>
                      </a:r>
                      <a:endParaRPr sz="90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✓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✓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✓ (reset)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2B4A"/>
                          </a:solidFill>
                          <a:latin typeface="Calibri"/>
                        </a:rPr>
                        <a:t>IWDG reset</a:t>
                      </a:r>
                      <a:endParaRPr sz="90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✓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✓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✓ (reset)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2B4A"/>
                          </a:solidFill>
                          <a:latin typeface="Calibri"/>
                        </a:rPr>
                        <a:t>Timers</a:t>
                      </a:r>
                      <a:endParaRPr sz="90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✓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✗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✗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</a:tbl>
          </a:graphicData>
        </a:graphic>
      </p:graphicFrame>
      <p:sp>
        <p:nvSpPr>
          <p:cNvPr id="57" name="Rectangle 56"/>
          <p:cNvSpPr/>
          <p:nvPr/>
        </p:nvSpPr>
        <p:spPr>
          <a:xfrm>
            <a:off x="320040" y="3794760"/>
            <a:ext cx="11548872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386791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A4F"/>
                </a:solidFill>
                <a:latin typeface="Calibri"/>
              </a:rPr>
              <a:t>Wake-Up Source Details</a:t>
            </a:r>
            <a:endParaRPr sz="120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457200" y="4160520"/>
            <a:ext cx="11338560" cy="19050"/>
          </a:xfrm>
          <a:prstGeom prst="rect">
            <a:avLst/>
          </a:prstGeom>
          <a:solidFill>
            <a:srgbClr val="C5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1480" y="4251960"/>
            <a:ext cx="3703320" cy="1115568"/>
          </a:xfrm>
          <a:prstGeom prst="rect">
            <a:avLst/>
          </a:prstGeom>
          <a:solidFill>
            <a:srgbClr val="EFF4FD"/>
          </a:solidFill>
          <a:ln w="381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4632" y="4290060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A4F"/>
                </a:solidFill>
                <a:latin typeface="Calibri"/>
              </a:rPr>
              <a:t>External Interrupts (EXTI 0–15)</a:t>
            </a:r>
            <a:endParaRPr sz="105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84632" y="4556760"/>
            <a:ext cx="35478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16 GPIO-mapped lines. Rising/falling/both edge. Configured via AFIO_EXTICRx, EXTI_RTSR/FTSR, EXTI_IMR, NVIC_ISER. Valid in Sleep and Stop mode.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4251960" y="4251960"/>
            <a:ext cx="3703320" cy="1115568"/>
          </a:xfrm>
          <a:prstGeom prst="rect">
            <a:avLst/>
          </a:prstGeom>
          <a:solidFill>
            <a:srgbClr val="EFF4FD"/>
          </a:solidFill>
          <a:ln w="381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25112" y="4290060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A4F"/>
                </a:solidFill>
                <a:latin typeface="Calibri"/>
              </a:rPr>
              <a:t>GPIO Events (EXTI_EMR)</a:t>
            </a:r>
            <a:endParaRPr sz="105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325112" y="4556760"/>
            <a:ext cx="35478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Same EXTI hardware routed via EXTI_EMR. Wakes CPU from WFE without triggering an ISR. Edge detection and trigger selection same as interrupt path.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092440" y="4251960"/>
            <a:ext cx="3703320" cy="1115568"/>
          </a:xfrm>
          <a:prstGeom prst="rect">
            <a:avLst/>
          </a:prstGeom>
          <a:solidFill>
            <a:srgbClr val="EFF4FD"/>
          </a:solidFill>
          <a:ln w="381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65592" y="4290060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A4F"/>
                </a:solidFill>
                <a:latin typeface="Calibri"/>
              </a:rPr>
              <a:t>RTC Alarm / Wake-Up Timer</a:t>
            </a:r>
            <a:endParaRPr sz="105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165592" y="4556760"/>
            <a:ext cx="35478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RTC in VBAT domain, clocked by LSE (32.768 kHz). Alarm triggers EXTI line 17. Valid in Sleep, Stop, and Standby. Must be configured before entering low-power mode.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411480" y="5440680"/>
            <a:ext cx="3703320" cy="1115568"/>
          </a:xfrm>
          <a:prstGeom prst="rect">
            <a:avLst/>
          </a:prstGeom>
          <a:solidFill>
            <a:srgbClr val="EFF4FD"/>
          </a:solidFill>
          <a:ln w="381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4632" y="5478780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A4F"/>
                </a:solidFill>
                <a:latin typeface="Calibri"/>
              </a:rPr>
              <a:t>WKUP Pin (PA0)</a:t>
            </a:r>
            <a:endParaRPr sz="105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484632" y="5745480"/>
            <a:ext cx="35478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Dedicated Standby wake-up pin. Requires PWR_CSR.EWUP = 1. Rising edge on PA0 sets WUF flag and wakes from Standby. Also works in Sleep/Stop as a normal EXTI.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4251960" y="5440680"/>
            <a:ext cx="3703320" cy="1115568"/>
          </a:xfrm>
          <a:prstGeom prst="rect">
            <a:avLst/>
          </a:prstGeom>
          <a:solidFill>
            <a:srgbClr val="EFF4FD"/>
          </a:solidFill>
          <a:ln w="381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25112" y="5478780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A4F"/>
                </a:solidFill>
                <a:latin typeface="Calibri"/>
              </a:rPr>
              <a:t>NRST (External Reset)</a:t>
            </a:r>
            <a:endParaRPr sz="105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325112" y="5745480"/>
            <a:ext cx="35478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Always active in all modes. Pulling NRST low initiates a full system reset. Not a clean software resume — all peripherals and SRAM reinitialise.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8092440" y="5440680"/>
            <a:ext cx="3703320" cy="1115568"/>
          </a:xfrm>
          <a:prstGeom prst="rect">
            <a:avLst/>
          </a:prstGeom>
          <a:solidFill>
            <a:srgbClr val="EFF4FD"/>
          </a:solidFill>
          <a:ln w="381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165592" y="5478780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A4F"/>
                </a:solidFill>
                <a:latin typeface="Calibri"/>
              </a:rPr>
              <a:t>IWDG Reset</a:t>
            </a:r>
            <a:endParaRPr sz="105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8165592" y="5745480"/>
            <a:ext cx="35478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  <a:latin typeface="Calibri"/>
              </a:rPr>
              <a:t>Independent watchdog running on LSI (~40 kHz). If not refreshed within timeout, triggers a reset. Wakes Standby as a reset event. LSI continues in all low-power modes.</a:t>
            </a:r>
            <a:endParaRPr sz="950" b="0" i="0">
              <a:solidFill>
                <a:srgbClr val="1A2B4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Practical Applications</a:t>
            </a:r>
            <a:endParaRPr sz="26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7472" y="65836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8F0"/>
                </a:solidFill>
                <a:latin typeface="Calibri"/>
              </a:rPr>
              <a:t>STM32F103C8T6 Low-Power Design Scenarios</a:t>
            </a:r>
            <a:endParaRPr sz="1100" b="0" i="1">
              <a:solidFill>
                <a:srgbClr val="B0C8F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62025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A8C8"/>
                </a:solidFill>
                <a:latin typeface="Calibri"/>
              </a:rPr>
              <a:t>STM32F103C8T6  |  Low-Power Modes and Wake-Up Mechanisms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6620256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A8C8"/>
                </a:solidFill>
                <a:latin typeface="Calibri"/>
              </a:rPr>
              <a:t>17 / 19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" y="6382512"/>
            <a:ext cx="1170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667A"/>
                </a:solidFill>
                <a:latin typeface="Calibri"/>
              </a:rPr>
              <a:t>Source: DS5319 Rev. 20; RM0008 Rev. 21</a:t>
            </a:r>
            <a:endParaRPr sz="800" b="0" i="1">
              <a:solidFill>
                <a:srgbClr val="55667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38404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97280"/>
            <a:ext cx="3840480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14808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Battery-Powered Sensor</a:t>
            </a:r>
            <a:endParaRPr sz="115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1480" y="1444752"/>
            <a:ext cx="3657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4A"/>
                </a:solidFill>
                <a:latin typeface="Calibri"/>
              </a:rPr>
              <a:t>MCU samples ADC periodically. Uses Stop mode between measurements. RTC alarm fires at sample interval; firmware restores HSE+PLL, reads sensor, stores data, returns to Stop.</a:t>
            </a:r>
            <a:endParaRPr sz="10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11480" y="3182111"/>
            <a:ext cx="2743200" cy="246888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" y="3200400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565C0"/>
                </a:solidFill>
                <a:latin typeface="Calibri"/>
              </a:rPr>
              <a:t>Mode: Stop + RTC wake</a:t>
            </a:r>
            <a:endParaRPr sz="95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70248" y="1097280"/>
            <a:ext cx="38404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0248" y="1097280"/>
            <a:ext cx="3840480" cy="292608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688" y="114808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Data Logger</a:t>
            </a:r>
            <a:endParaRPr sz="115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61688" y="1444752"/>
            <a:ext cx="3657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4A"/>
                </a:solidFill>
                <a:latin typeface="Calibri"/>
              </a:rPr>
              <a:t>Sleep mode keeps DMA and SPI active to buffer incoming data. CPU halted between DMA transfers. SysTick or DMA transfer-complete IRQ wakes CPU to process buffer.</a:t>
            </a:r>
            <a:endParaRPr sz="10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361688" y="3182111"/>
            <a:ext cx="2743200" cy="246888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6552" y="3200400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A8A"/>
                </a:solidFill>
                <a:latin typeface="Calibri"/>
              </a:rPr>
              <a:t>Mode: Sleep + DMA IRQ</a:t>
            </a:r>
            <a:endParaRPr sz="95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220456" y="1097280"/>
            <a:ext cx="38404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0456" y="1097280"/>
            <a:ext cx="3840480" cy="292608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1896" y="114808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Industrial I/O Monitor</a:t>
            </a:r>
            <a:endParaRPr sz="115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11896" y="1444752"/>
            <a:ext cx="3657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4A"/>
                </a:solidFill>
                <a:latin typeface="Calibri"/>
              </a:rPr>
              <a:t>Stop mode during bus/sensor inactivity. GPIO EXTI line detects alarm or digital sensor edge. NVIC wakes CPU, firmware logs event, returns to Stop.</a:t>
            </a:r>
            <a:endParaRPr sz="10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311896" y="3182111"/>
            <a:ext cx="2743200" cy="246888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3200400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2A4F"/>
                </a:solidFill>
                <a:latin typeface="Calibri"/>
              </a:rPr>
              <a:t>Mode: Stop + EXTI wake</a:t>
            </a:r>
            <a:endParaRPr sz="950" b="1" i="0">
              <a:solidFill>
                <a:srgbClr val="0D2A4F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20040" y="3611880"/>
            <a:ext cx="38404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3611880"/>
            <a:ext cx="3840480" cy="292608"/>
          </a:xfrm>
          <a:prstGeom prst="rect">
            <a:avLst/>
          </a:prstGeom>
          <a:solidFill>
            <a:srgbClr val="E6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66268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CAN-Based Controller</a:t>
            </a:r>
            <a:endParaRPr sz="115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11480" y="3959352"/>
            <a:ext cx="3657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4A"/>
                </a:solidFill>
                <a:latin typeface="Calibri"/>
              </a:rPr>
              <a:t>Sleep mode when CAN bus is idle. bxCAN wake-up event on CAN activity (Sleep only — CAN does not wake from Stop). Deep Stop mode when entire node is inactive long-term.</a:t>
            </a:r>
            <a:endParaRPr sz="10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11480" y="5696711"/>
            <a:ext cx="2743200" cy="246888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" y="5715000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5900"/>
                </a:solidFill>
                <a:latin typeface="Calibri"/>
              </a:rPr>
              <a:t>Mode: Sleep + CAN IRQ</a:t>
            </a:r>
            <a:endParaRPr sz="950" b="1" i="0">
              <a:solidFill>
                <a:srgbClr val="E65900"/>
              </a:solidFill>
              <a:latin typeface="Calibr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270248" y="3611880"/>
            <a:ext cx="38404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70248" y="3611880"/>
            <a:ext cx="3840480" cy="2926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61688" y="366268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Portable Medical Device</a:t>
            </a:r>
            <a:endParaRPr sz="115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361688" y="3959352"/>
            <a:ext cx="3657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4A"/>
                </a:solidFill>
                <a:latin typeface="Calibri"/>
              </a:rPr>
              <a:t>Standby between patient measurement sessions. RTC alarm triggers measurement window. Full re-initialisation on wake; backup registers retain session state across Standby.</a:t>
            </a:r>
            <a:endParaRPr sz="10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361688" y="5696711"/>
            <a:ext cx="2743200" cy="246888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16552" y="5715000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62828"/>
                </a:solidFill>
                <a:latin typeface="Calibri"/>
              </a:rPr>
              <a:t>Mode: Standby + RTC wake</a:t>
            </a:r>
            <a:endParaRPr sz="950" b="1" i="0">
              <a:solidFill>
                <a:srgbClr val="C62828"/>
              </a:solidFill>
              <a:latin typeface="Calibri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8220456" y="3611880"/>
            <a:ext cx="384048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0456" y="3611880"/>
            <a:ext cx="3840480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11896" y="366268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Wireless IoT Node</a:t>
            </a:r>
            <a:endParaRPr sz="115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311896" y="3959352"/>
            <a:ext cx="3657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2B4A"/>
                </a:solidFill>
                <a:latin typeface="Calibri"/>
              </a:rPr>
              <a:t>Stop mode between TX windows. RTC alarm wakes MCU, firmware prepares packet, activates RF, transmits, then returns to Stop. Minimise on-time to extend battery life.</a:t>
            </a:r>
            <a:endParaRPr sz="105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311896" y="5696711"/>
            <a:ext cx="2743200" cy="246888"/>
          </a:xfrm>
          <a:prstGeom prst="rect">
            <a:avLst/>
          </a:prstGeom>
          <a:solidFill>
            <a:srgbClr val="EF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66760" y="5715000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565C0"/>
                </a:solidFill>
                <a:latin typeface="Calibri"/>
              </a:rPr>
              <a:t>Mode: Stop + RTC wake</a:t>
            </a:r>
            <a:endParaRPr sz="950" b="1" i="0">
              <a:solidFill>
                <a:srgbClr val="1565C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ATmega328P vs STM32F103C8T6 — Technical Comparison</a:t>
            </a:r>
            <a:endParaRPr sz="26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7472" y="65836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8F0"/>
                </a:solidFill>
                <a:latin typeface="Calibri"/>
              </a:rPr>
              <a:t>Required 9-Row Comparison  |  DS5319 Rev. 20  |  RM0008 Rev. 21  |  ATmega328P Datasheet</a:t>
            </a:r>
            <a:endParaRPr sz="1100" b="0" i="1">
              <a:solidFill>
                <a:srgbClr val="B0C8F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62025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A8C8"/>
                </a:solidFill>
                <a:latin typeface="Calibri"/>
              </a:rPr>
              <a:t>STM32F103C8T6  |  Low-Power Modes and Wake-Up Mechanisms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6620256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A8C8"/>
                </a:solidFill>
                <a:latin typeface="Calibri"/>
              </a:rPr>
              <a:t>18 / 19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" y="6382512"/>
            <a:ext cx="1170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667A"/>
                </a:solidFill>
                <a:latin typeface="Calibri"/>
              </a:rPr>
              <a:t>Source: DS5319 Rev. 20; RM0008 Rev. 21; Atmel-7810 ATmega328P Datasheet</a:t>
            </a:r>
            <a:endParaRPr sz="800" b="0" i="1">
              <a:solidFill>
                <a:srgbClr val="55667A"/>
              </a:solidFill>
              <a:latin typeface="Calibri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0" y="1047115"/>
          <a:ext cx="12240895" cy="5563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7490"/>
                <a:gridCol w="3854450"/>
                <a:gridCol w="4338955"/>
              </a:tblGrid>
              <a:tr h="32194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  <a:endParaRPr sz="11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D2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ATmega328P</a:t>
                      </a:r>
                      <a:endParaRPr sz="11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D2A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STM32F103C8T6</a:t>
                      </a:r>
                      <a:endParaRPr sz="11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D2A4F"/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2B4A"/>
                          </a:solidFill>
                          <a:latin typeface="Calibri"/>
                        </a:rPr>
                        <a:t>Sleep modes</a:t>
                      </a:r>
                      <a:endParaRPr sz="90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Idle, ADC Noise Reduction,Power-down, Power-save,</a:t>
                      </a:r>
                      <a:r>
                        <a:rPr lang="en-US" sz="900" b="0">
                          <a:solidFill>
                            <a:srgbClr val="1A2B4A"/>
                          </a:solidFill>
                          <a:latin typeface="Calibri"/>
                        </a:rPr>
                        <a:t> </a:t>
                      </a:r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Standby, Ext. Standby  (6 modes)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Sleep, Stop, Standby
(Shutdown: NOT supported on F103)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  <a:tr h="48387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2B4A"/>
                          </a:solidFill>
                          <a:latin typeface="Calibri"/>
                        </a:rPr>
                        <a:t>Deepest
low-power mode</a:t>
                      </a:r>
                      <a:endParaRPr sz="90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Power-down mode:</a:t>
                      </a:r>
                      <a:r>
                        <a:rPr lang="en-US" sz="900" b="0">
                          <a:solidFill>
                            <a:srgbClr val="1A2B4A"/>
                          </a:solidFill>
                          <a:latin typeface="Calibri"/>
                        </a:rPr>
                        <a:t> </a:t>
                      </a:r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All oscillators &amp; clocks stopped;
SRAM &amp; registers retained;</a:t>
                      </a:r>
                      <a:r>
                        <a:rPr lang="en-US" sz="900" b="0">
                          <a:solidFill>
                            <a:srgbClr val="1A2B4A"/>
                          </a:solidFill>
                          <a:latin typeface="Calibri"/>
                        </a:rPr>
                        <a:t> </a:t>
                      </a:r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lowest static current state.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Standby mode:
Voltage regulator disabled;</a:t>
                      </a:r>
                      <a:r>
                        <a:rPr lang="en-US" sz="900" b="0">
                          <a:solidFill>
                            <a:srgbClr val="1A2B4A"/>
                          </a:solidFill>
                          <a:latin typeface="Calibri"/>
                        </a:rPr>
                        <a:t> </a:t>
                      </a:r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1.8V core powered down;
SRAM &amp; CPU registers lost.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2B4A"/>
                          </a:solidFill>
                          <a:latin typeface="Calibri"/>
                        </a:rPr>
                        <a:t>Sleep-control
registers</a:t>
                      </a:r>
                      <a:endParaRPr sz="90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SMCR (SE, SM[2:0] — mode sel.);
MCUCR (BODS, BODSE sleep ctrl);
PRR (peripheral power-down)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SCB→SCR (SLEEPDEEP, SLEEPONEXIT);
PWR_CR (PDDS, LPDS, DBP);
PWR_CSR (EWUP, WUF, SBF)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2B4A"/>
                          </a:solidFill>
                          <a:latin typeface="Calibri"/>
                        </a:rPr>
                        <a:t>Wake-up sources</a:t>
                      </a:r>
                      <a:endParaRPr sz="90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INT0/INT1 (ext. interrupt pins),
PCINT[23:0] (pin-change),
Timer overflow, TWI addr,
USART RX, ADC complete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EXTI lines 0–15 (GPIO),
RTC alarm (EXTI 17), WKUP pin,
NRST, IWDG reset,
USB resume (Sleep/Stop)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2B4A"/>
                          </a:solidFill>
                          <a:latin typeface="Calibri"/>
                        </a:rPr>
                        <a:t>External interrupt
wake-up</a:t>
                      </a:r>
                      <a:endParaRPr sz="90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INT0 on PD2, INT1 on PD3.
Rising / falling / low-level.
Configured via EICRA + EIMSK.
Flag in EIFR.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EXTI lines 0–15 (any GPIO port).
Rising / falling / both edges.
AFIO_EXTICRx + EXTI_IMR/RTSR/FTSR.
Flag in EXTI_PR; cleared by writing 1.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2B4A"/>
                          </a:solidFill>
                          <a:latin typeface="Calibri"/>
                        </a:rPr>
                        <a:t>Timer operation
during sleep</a:t>
                      </a:r>
                      <a:endParaRPr sz="90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Idle: all timers run.
Power-save: Timer2 async (32 kHz).
Power-down: timers stopped.
Standby: Timer2 async only.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Sleep: timers (TIM1–4) &amp; SysTick run.
Stop: all standard timers stopped.
Standby: all standard timers stopped.
(Only RTC in VBAT domain can run).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2B4A"/>
                          </a:solidFill>
                          <a:latin typeface="Calibri"/>
                        </a:rPr>
                        <a:t>RTC operation</a:t>
                      </a:r>
                      <a:endParaRPr sz="90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No dedicated RTC hardware.
Timer2 can use ext. 32 kHz async.
External RTC chip required
for accurate calendar/alarm.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Built-in RTC in VBAT domain.
Clocked by LSE (32.768 kHz).
Operational in Stop + Standby.
Alarm via EXTI line 17.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2B4A"/>
                          </a:solidFill>
                          <a:latin typeface="Calibri"/>
                        </a:rPr>
                        <a:t>RAM retention</a:t>
                      </a:r>
                      <a:endParaRPr sz="90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SRAM (2 KB) retained in all
standard modes. EEPROM (1 KB)
retained always.
External Standby loses SRAM.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Sleep + Stop: 20 KB SRAM fully
retained. Standby: SRAM lost.
Backup registers (BKP) retained
in all modes via VBAT domain.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A2B4A"/>
                          </a:solidFill>
                          <a:latin typeface="Calibri"/>
                        </a:rPr>
                        <a:t>Typical
applications</a:t>
                      </a:r>
                      <a:endParaRPr sz="900" b="1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Low-cost 8-bit embedded,
Arduino-class systems,
simple sensors,
low-data-rate IoT, education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2B4A"/>
                          </a:solidFill>
                          <a:latin typeface="Calibri"/>
                        </a:rPr>
                        <a:t>Professional 32-bit ARM systems,
battery sensors, CAN/USB devices,
motor control, industrial IoT,
data loggers, medical devices</a:t>
                      </a:r>
                      <a:endParaRPr sz="900" b="0">
                        <a:solidFill>
                          <a:srgbClr val="1A2B4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FF4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914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Conclusion</a:t>
            </a:r>
            <a:endParaRPr sz="26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7472" y="65836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8F0"/>
                </a:solidFill>
                <a:latin typeface="Calibri"/>
              </a:rPr>
              <a:t>STM32F103C8T6 Low-Power Architecture — Key Takeaways</a:t>
            </a:r>
            <a:endParaRPr sz="1100" b="0" i="1">
              <a:solidFill>
                <a:srgbClr val="B0C8F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62025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A8C8"/>
                </a:solidFill>
                <a:latin typeface="Calibri"/>
              </a:rPr>
              <a:t>STM32F103C8T6  |  Low-Power Modes and Wake-Up Mechanisms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6620256"/>
            <a:ext cx="868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A8C8"/>
                </a:solidFill>
                <a:latin typeface="Calibri"/>
              </a:rPr>
              <a:t>19 / 19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" y="6382512"/>
            <a:ext cx="1170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667A"/>
                </a:solidFill>
                <a:latin typeface="Calibri"/>
              </a:rPr>
              <a:t>Source: DS5319 Rev. 20; RM0008 Rev. 21</a:t>
            </a:r>
            <a:endParaRPr sz="800" b="0" i="1">
              <a:solidFill>
                <a:srgbClr val="55667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54864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17043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Calibri"/>
              </a:rPr>
              <a:t>Architecture</a:t>
            </a:r>
            <a:endParaRPr sz="120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93192" y="1463040"/>
            <a:ext cx="5376672" cy="19050"/>
          </a:xfrm>
          <a:prstGeom prst="rect">
            <a:avLst/>
          </a:prstGeom>
          <a:solidFill>
            <a:srgbClr val="C5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1536192"/>
            <a:ext cx="530352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STM32F103C8T6 is based on the 32-bit ARM Cortex-M3 (ARMv7-M) at up to 72 MHz with 64 KB Flash, 20 KB SRAM, and a rich peripheral set via AHB/APB1/APB2 buses.</a:t>
            </a:r>
            <a:endParaRPr sz="11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80760" y="1097280"/>
            <a:ext cx="578815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1170432"/>
            <a:ext cx="5605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65C0"/>
                </a:solidFill>
                <a:latin typeface="Calibri"/>
              </a:rPr>
              <a:t>Low-Power Operation</a:t>
            </a:r>
            <a:endParaRPr sz="1200" b="1" i="0">
              <a:solidFill>
                <a:srgbClr val="1565C0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53912" y="1463040"/>
            <a:ext cx="5678424" cy="19050"/>
          </a:xfrm>
          <a:prstGeom prst="rect">
            <a:avLst/>
          </a:prstGeom>
          <a:solidFill>
            <a:srgbClr val="C5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0488" y="1536192"/>
            <a:ext cx="5605272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Three official modes: Sleep (CPU halted, clocks run), Stop (all clocks off, SRAM retained), Standby (1.8V domain off, SRAM lost). Correct register configuration of SCB, PWR, RCC, and EXTI is essential.</a:t>
            </a:r>
            <a:endParaRPr sz="11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0040" y="3108960"/>
            <a:ext cx="54864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31821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8A"/>
                </a:solidFill>
                <a:latin typeface="Calibri"/>
              </a:rPr>
              <a:t>WFI and WFE</a:t>
            </a:r>
            <a:endParaRPr sz="120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93192" y="3474720"/>
            <a:ext cx="5376672" cy="19050"/>
          </a:xfrm>
          <a:prstGeom prst="rect">
            <a:avLst/>
          </a:prstGeom>
          <a:solidFill>
            <a:srgbClr val="C5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3547872"/>
            <a:ext cx="530352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WFI (Wait For Interrupt) halts the CPU until a pending, enabled interrupt fires — ISR always executes. WFE (Wait For Event) halts until an event signal — ISR is optional. Both work with Sleep, Stop, and Standby modes.</a:t>
            </a:r>
            <a:endParaRPr sz="11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080760" y="3108960"/>
            <a:ext cx="578815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0488" y="3182112"/>
            <a:ext cx="5605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8A"/>
                </a:solidFill>
                <a:latin typeface="Calibri"/>
              </a:rPr>
              <a:t>Register Configuration</a:t>
            </a:r>
            <a:endParaRPr sz="1200" b="1" i="0">
              <a:solidFill>
                <a:srgbClr val="007A8A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153912" y="3474720"/>
            <a:ext cx="5678424" cy="19050"/>
          </a:xfrm>
          <a:prstGeom prst="rect">
            <a:avLst/>
          </a:prstGeom>
          <a:solidFill>
            <a:srgbClr val="C5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0488" y="3547872"/>
            <a:ext cx="5605272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SCB→SCR.SLEEPDEEP selects Sleep vs Stop/Standby. PWR_CR.PDDS selects Stop vs Standby. PWR_CR.LPDS controls regulator in Stop. EXTI_IMR + NVIC_ISER enable wake-up sources. CWUF clears stale flags before sleep entry.</a:t>
            </a:r>
            <a:endParaRPr sz="1100" b="0" i="0">
              <a:solidFill>
                <a:srgbClr val="1A2B4A"/>
              </a:solidFill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20040" y="5120640"/>
            <a:ext cx="5486400" cy="1115568"/>
          </a:xfrm>
          <a:prstGeom prst="rect">
            <a:avLst/>
          </a:prstGeom>
          <a:solidFill>
            <a:srgbClr val="FDF2EE"/>
          </a:solidFill>
          <a:ln w="63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" y="519379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Calibri"/>
              </a:rPr>
              <a:t>Important Restrictions</a:t>
            </a:r>
            <a:endParaRPr sz="1200" b="1" i="0">
              <a:solidFill>
                <a:srgbClr val="C62828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93192" y="5486400"/>
            <a:ext cx="5376672" cy="19050"/>
          </a:xfrm>
          <a:prstGeom prst="rect">
            <a:avLst/>
          </a:prstGeom>
          <a:solidFill>
            <a:srgbClr val="C5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" y="5559552"/>
            <a:ext cx="53035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A2B4A"/>
                </a:solidFill>
                <a:latin typeface="Calibri"/>
              </a:rPr>
              <a:t>Shutdown mode: NOT supported by STM32F103C8T6 (newer STM32L/G families only). After Stop wake-up, clock defaults to HSI — firmware must restore HSE + PLL explicitly. After Standby, full re-initialisation required.</a:t>
            </a:r>
            <a:endParaRPr sz="1100" b="0" i="0">
              <a:solidFill>
                <a:srgbClr val="1A2B4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3237" y="2560320"/>
            <a:ext cx="1115568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 i="0">
                <a:solidFill>
                  <a:schemeClr val="tx1"/>
                </a:solidFill>
                <a:latin typeface="Academy Engraved LET" panose="02000000000000000000" charset="0"/>
                <a:ea typeface="Hiragino Kaku Gothic Std" panose="020B0800000000000000" charset="-128"/>
                <a:cs typeface="Academy Engraved LET" panose="02000000000000000000" charset="0"/>
              </a:rPr>
              <a:t>THANK </a:t>
            </a:r>
            <a:r>
              <a:rPr lang="en-US" sz="7200" b="1" i="0">
                <a:solidFill>
                  <a:schemeClr val="tx1"/>
                </a:solidFill>
                <a:latin typeface="Academy Engraved LET" panose="02000000000000000000" charset="0"/>
                <a:cs typeface="Academy Engraved LET" panose="02000000000000000000" charset="0"/>
              </a:rPr>
              <a:t>YOU!</a:t>
            </a:r>
            <a:endParaRPr lang="en-US" sz="7200" b="1" i="0">
              <a:solidFill>
                <a:schemeClr val="tx1"/>
              </a:solidFill>
              <a:latin typeface="Academy Engraved LET" panose="02000000000000000000" charset="0"/>
              <a:cs typeface="Academy Engraved LET" panose="02000000000000000000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620256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A8C8"/>
                </a:solidFill>
                <a:latin typeface="Calibri"/>
              </a:rPr>
              <a:t>STM32F103C8T6  |  Low-Power Modes and Wake-Up Mechanisms</a:t>
            </a:r>
            <a:endParaRPr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83112" y="6620256"/>
            <a:ext cx="8686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A8C8"/>
                </a:solidFill>
                <a:latin typeface="Calibri"/>
              </a:rPr>
              <a:t>19 / </a:t>
            </a:r>
            <a:r>
              <a:rPr lang="en-US" sz="800" b="0" i="0">
                <a:solidFill>
                  <a:srgbClr val="90A8C8"/>
                </a:solidFill>
                <a:latin typeface="Calibri"/>
              </a:rPr>
              <a:t>20</a:t>
            </a:r>
            <a:endParaRPr lang="en-US" sz="800" b="0" i="0">
              <a:solidFill>
                <a:srgbClr val="90A8C8"/>
              </a:solidFill>
              <a:latin typeface="Calibri"/>
            </a:endParaRPr>
          </a:p>
          <a:p>
            <a:pPr algn="r"/>
            <a:endParaRPr lang="en-US" sz="800" b="0" i="0">
              <a:solidFill>
                <a:srgbClr val="90A8C8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359662" y="3771265"/>
            <a:ext cx="5376672" cy="19050"/>
          </a:xfrm>
          <a:prstGeom prst="rect">
            <a:avLst/>
          </a:prstGeom>
          <a:solidFill>
            <a:srgbClr val="C5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flipV="1">
            <a:off x="1123950" y="3726180"/>
            <a:ext cx="10059035" cy="76200"/>
          </a:xfrm>
          <a:prstGeom prst="rect">
            <a:avLst/>
          </a:prstGeom>
          <a:solidFill>
            <a:srgbClr val="C5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446*193"/>
  <p:tag name="TABLE_ENDDRAG_RECT" val="24*110*446*193"/>
</p:tagLst>
</file>

<file path=ppt/tags/tag2.xml><?xml version="1.0" encoding="utf-8"?>
<p:tagLst xmlns:p="http://schemas.openxmlformats.org/presentationml/2006/main">
  <p:tag name="TABLE_ENDDRAG_ORIGIN_RECT" val="963*430"/>
  <p:tag name="TABLE_ENDDRAG_RECT" val="0*81*963*43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27375</Words>
  <Application>WPS Presentation</Application>
  <PresentationFormat>On-screen Show (4:3)</PresentationFormat>
  <Paragraphs>1656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Arial</vt:lpstr>
      <vt:lpstr>SimSun</vt:lpstr>
      <vt:lpstr>Wingdings</vt:lpstr>
      <vt:lpstr>Arial</vt:lpstr>
      <vt:lpstr>Calibri</vt:lpstr>
      <vt:lpstr>Helvetica Neue</vt:lpstr>
      <vt:lpstr>Microsoft YaHei</vt:lpstr>
      <vt:lpstr>汉仪旗黑</vt:lpstr>
      <vt:lpstr>Arial Unicode MS</vt:lpstr>
      <vt:lpstr>Academy Engraved LET</vt:lpstr>
      <vt:lpstr>Hiragino Kaku Gothic Std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Nebu</cp:lastModifiedBy>
  <cp:revision>3</cp:revision>
  <dcterms:created xsi:type="dcterms:W3CDTF">2026-09-17T03:10:44Z</dcterms:created>
  <dcterms:modified xsi:type="dcterms:W3CDTF">2026-09-17T03:10:44Z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1033-12.1.25880.25880</vt:lpwstr>
  </property>
  <property fmtid="{D5CDD505-2E9C-101B-9397-08002B2CF9AE}" pid="3" name="ICV">
    <vt:lpwstr>E2001A6621B966608877A86A9F86BB50_42</vt:lpwstr>
  </property>
</Properties>
</file>